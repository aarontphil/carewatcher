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its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411480"/>
            <a:ext cx="2377440" cy="135032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691640"/>
            <a:ext cx="10362895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3600" b="1">
                <a:solidFill>
                  <a:srgbClr val="18181B"/>
                </a:solidFill>
                <a:latin typeface="Arial"/>
              </a:defRPr>
            </a:pPr>
            <a:r>
              <a:t>CAREWATCHER</a:t>
            </a:r>
          </a:p>
          <a:p>
            <a:pPr algn="ctr">
              <a:spcBef>
                <a:spcPts val="800"/>
              </a:spcBef>
              <a:defRPr sz="1800" b="1">
                <a:solidFill>
                  <a:srgbClr val="CC0000"/>
                </a:solidFill>
                <a:latin typeface="Arial"/>
              </a:defRPr>
            </a:pPr>
            <a:r>
              <a:t>Privacy-Preserving Ambient Healthcare Companion for Passive Wellness Monitoring</a:t>
            </a:r>
          </a:p>
          <a:p>
            <a:pPr algn="ctr">
              <a:spcBef>
                <a:spcPts val="400"/>
              </a:spcBef>
              <a:defRPr sz="1300" i="1">
                <a:solidFill>
                  <a:srgbClr val="374151"/>
                </a:solidFill>
                <a:latin typeface="Arial"/>
              </a:defRPr>
            </a:pPr>
            <a:r>
              <a:t>100% On-Device Ambient Health Intelligence with Zero Cloud Egress</a:t>
            </a:r>
          </a:p>
          <a:p>
            <a:pPr algn="ctr">
              <a:spcBef>
                <a:spcPts val="1400"/>
              </a:spcBef>
              <a:defRPr sz="1400" b="1">
                <a:solidFill>
                  <a:srgbClr val="18181B"/>
                </a:solidFill>
                <a:latin typeface="Arial"/>
              </a:defRPr>
            </a:pPr>
            <a:r>
              <a:t>First Interim Evaluation (Review 1)  |  Academic Year: 2026 – 2027</a:t>
            </a:r>
          </a:p>
          <a:p>
            <a:pPr algn="ctr">
              <a:spcBef>
                <a:spcPts val="400"/>
              </a:spcBef>
              <a:defRPr sz="1300" b="1">
                <a:solidFill>
                  <a:srgbClr val="6B7280"/>
                </a:solidFill>
                <a:latin typeface="Arial"/>
              </a:defRPr>
            </a:pPr>
            <a:r>
              <a:t>Department of Artificial Intelligence and Data Science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3977639"/>
            <a:ext cx="457200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4114800"/>
            <a:ext cx="4114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CC0000"/>
                </a:solidFill>
                <a:latin typeface="Arial"/>
              </a:defRPr>
            </a:pPr>
            <a:r>
              <a:t>Project Guide</a:t>
            </a:r>
          </a:p>
          <a:p>
            <a:pPr>
              <a:spcBef>
                <a:spcPts val="200"/>
              </a:spcBef>
              <a:defRPr sz="1200">
                <a:solidFill>
                  <a:srgbClr val="374151"/>
                </a:solidFill>
                <a:latin typeface="Arial"/>
              </a:defRPr>
            </a:pPr>
            <a:r>
              <a:t>[Guide Name]</a:t>
            </a:r>
          </a:p>
          <a:p>
            <a:pPr>
              <a:spcBef>
                <a:spcPts val="200"/>
              </a:spcBef>
              <a:defRPr sz="1200">
                <a:solidFill>
                  <a:srgbClr val="374151"/>
                </a:solidFill>
                <a:latin typeface="Arial"/>
              </a:defRPr>
            </a:pPr>
            <a:r>
              <a:t>Assistant Professor</a:t>
            </a:r>
          </a:p>
          <a:p>
            <a:pPr>
              <a:spcBef>
                <a:spcPts val="200"/>
              </a:spcBef>
              <a:defRPr sz="1200">
                <a:solidFill>
                  <a:srgbClr val="374151"/>
                </a:solidFill>
                <a:latin typeface="Arial"/>
              </a:defRPr>
            </a:pPr>
            <a:r>
              <a:t>Department of AI &amp; DS</a:t>
            </a:r>
          </a:p>
          <a:p>
            <a:pPr>
              <a:spcBef>
                <a:spcPts val="200"/>
              </a:spcBef>
              <a:defRPr sz="1200">
                <a:solidFill>
                  <a:srgbClr val="374151"/>
                </a:solidFill>
                <a:latin typeface="Arial"/>
              </a:defRPr>
            </a:pPr>
            <a:r>
              <a:t>Muthoot Institute of Technology and Science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22415" y="3977639"/>
            <a:ext cx="457200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96735" y="4114800"/>
            <a:ext cx="4114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CC0000"/>
                </a:solidFill>
                <a:latin typeface="Arial"/>
              </a:defRPr>
            </a:pPr>
            <a:r>
              <a:t>Team Members (Group: [X])</a:t>
            </a:r>
          </a:p>
          <a:p>
            <a:pPr>
              <a:spcBef>
                <a:spcPts val="200"/>
              </a:spcBef>
              <a:defRPr sz="1200">
                <a:solidFill>
                  <a:srgbClr val="374151"/>
                </a:solidFill>
                <a:latin typeface="Arial"/>
              </a:defRPr>
            </a:pPr>
            <a:r>
              <a:t>Aaron  (Roll No: [Roll No.])</a:t>
            </a:r>
          </a:p>
          <a:p>
            <a:pPr>
              <a:spcBef>
                <a:spcPts val="200"/>
              </a:spcBef>
              <a:defRPr sz="1200">
                <a:solidFill>
                  <a:srgbClr val="374151"/>
                </a:solidFill>
                <a:latin typeface="Arial"/>
              </a:defRPr>
            </a:pPr>
            <a:r>
              <a:t>[Member 2]  (Roll No: [Roll No.])</a:t>
            </a:r>
          </a:p>
          <a:p>
            <a:pPr>
              <a:spcBef>
                <a:spcPts val="200"/>
              </a:spcBef>
              <a:defRPr sz="1200">
                <a:solidFill>
                  <a:srgbClr val="374151"/>
                </a:solidFill>
                <a:latin typeface="Arial"/>
              </a:defRPr>
            </a:pPr>
            <a:r>
              <a:t>[Member 3]  (Roll No: [Roll No.])</a:t>
            </a:r>
          </a:p>
          <a:p>
            <a:pPr>
              <a:spcBef>
                <a:spcPts val="200"/>
              </a:spcBef>
              <a:defRPr sz="1200">
                <a:solidFill>
                  <a:srgbClr val="374151"/>
                </a:solidFill>
                <a:latin typeface="Arial"/>
              </a:defRPr>
            </a:pPr>
            <a:r>
              <a:t>[Member 4]  (Roll No: [Roll No.])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CC0000"/>
          </a:solidFill>
          <a:ln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400800"/>
            <a:ext cx="54864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CareWatcher, Dept of AI and 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0" y="6382512"/>
            <a:ext cx="73152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its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228600"/>
            <a:ext cx="1463040" cy="83097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20040"/>
            <a:ext cx="932688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CC0000"/>
                </a:solidFill>
                <a:latin typeface="Arial"/>
              </a:defRPr>
            </a:pPr>
            <a:r>
              <a:t>GERIATRIC HEALTHCARE &amp; AMBIENT MONITORING</a:t>
            </a:r>
          </a:p>
          <a:p>
            <a:pPr>
              <a:defRPr sz="2600" b="1">
                <a:solidFill>
                  <a:srgbClr val="18181B"/>
                </a:solidFill>
                <a:latin typeface="Arial"/>
              </a:defRPr>
            </a:pPr>
            <a:r>
              <a:t>Problem Statement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15568"/>
            <a:ext cx="10728655" cy="18288"/>
          </a:xfrm>
          <a:prstGeom prst="rect">
            <a:avLst/>
          </a:prstGeom>
          <a:solidFill>
            <a:srgbClr val="E6E6E6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3328416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2962656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CC0000"/>
                </a:solidFill>
                <a:latin typeface="Arial"/>
              </a:defRPr>
            </a:pPr>
            <a:r>
              <a:t>1. Solitary Living &amp; Silent Decline</a:t>
            </a:r>
          </a:p>
          <a:p>
            <a:pPr>
              <a:spcBef>
                <a:spcPts val="1000"/>
              </a:spcBef>
            </a:pPr>
            <a:r>
              <a:rPr b="1" sz="1100">
                <a:solidFill>
                  <a:srgbClr val="18181B"/>
                </a:solidFill>
              </a:rPr>
              <a:t>• Surging Demographic: </a:t>
            </a:r>
            <a:r>
              <a:rPr sz="1100">
                <a:solidFill>
                  <a:srgbClr val="374151"/>
                </a:solidFill>
              </a:rPr>
              <a:t>1 in 6 people globally will be aged 60+ by 2030, with a vast majority living independently.</a:t>
            </a:r>
          </a:p>
          <a:p>
            <a:pPr>
              <a:spcBef>
                <a:spcPts val="1000"/>
              </a:spcBef>
            </a:pPr>
            <a:r>
              <a:rPr b="1" sz="1100">
                <a:solidFill>
                  <a:srgbClr val="18181B"/>
                </a:solidFill>
              </a:rPr>
              <a:t>• Medication Non-Adherence: </a:t>
            </a:r>
            <a:r>
              <a:rPr sz="1100">
                <a:solidFill>
                  <a:srgbClr val="374151"/>
                </a:solidFill>
              </a:rPr>
              <a:t>Over 50% of elderly with chronic conditions forget or mismanage prescribed dosages.</a:t>
            </a:r>
          </a:p>
          <a:p>
            <a:pPr>
              <a:spcBef>
                <a:spcPts val="1000"/>
              </a:spcBef>
            </a:pPr>
            <a:r>
              <a:rPr b="1" sz="1100">
                <a:solidFill>
                  <a:srgbClr val="18181B"/>
                </a:solidFill>
              </a:rPr>
              <a:t>• Silent Deterioration: </a:t>
            </a:r>
            <a:r>
              <a:rPr sz="1100">
                <a:solidFill>
                  <a:srgbClr val="374151"/>
                </a:solidFill>
              </a:rPr>
              <a:t>Subtle mood shifts, sleep degradation, and reduced mobility go unnoticed until an acute crisis occurs.</a:t>
            </a:r>
          </a:p>
          <a:p>
            <a:pPr>
              <a:spcBef>
                <a:spcPts val="1000"/>
              </a:spcBef>
            </a:pPr>
            <a:r>
              <a:rPr b="1" sz="1100">
                <a:solidFill>
                  <a:srgbClr val="18181B"/>
                </a:solidFill>
              </a:rPr>
              <a:t>• Delayed Distress Response: </a:t>
            </a:r>
            <a:r>
              <a:rPr sz="1100">
                <a:solidFill>
                  <a:srgbClr val="374151"/>
                </a:solidFill>
              </a:rPr>
              <a:t>Physical falls or acute medical distress often result in prolonged immobilization before help arrives.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25696" y="1325880"/>
            <a:ext cx="3328416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08576" y="1508760"/>
            <a:ext cx="2962656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CC0000"/>
                </a:solidFill>
                <a:latin typeface="Arial"/>
              </a:defRPr>
            </a:pPr>
            <a:r>
              <a:t>2. The Cloud Privacy Dilemma</a:t>
            </a:r>
          </a:p>
          <a:p>
            <a:pPr>
              <a:spcBef>
                <a:spcPts val="1000"/>
              </a:spcBef>
            </a:pPr>
            <a:r>
              <a:rPr b="1" sz="1100">
                <a:solidFill>
                  <a:srgbClr val="18181B"/>
                </a:solidFill>
              </a:rPr>
              <a:t>• Invasive Egress: </a:t>
            </a:r>
            <a:r>
              <a:rPr sz="1100">
                <a:solidFill>
                  <a:srgbClr val="374151"/>
                </a:solidFill>
              </a:rPr>
              <a:t>Commercial assistants (Alexa, Google Home, smart cams) continuously stream raw domestic audio and video to third-party cloud servers.</a:t>
            </a:r>
          </a:p>
          <a:p>
            <a:pPr>
              <a:spcBef>
                <a:spcPts val="1000"/>
              </a:spcBef>
            </a:pPr>
            <a:r>
              <a:rPr b="1" sz="1100">
                <a:solidFill>
                  <a:srgbClr val="18181B"/>
                </a:solidFill>
              </a:rPr>
              <a:t>• Resident Rejection: </a:t>
            </a:r>
            <a:r>
              <a:rPr sz="1100">
                <a:solidFill>
                  <a:srgbClr val="374151"/>
                </a:solidFill>
              </a:rPr>
              <a:t>Elderly individuals strongly reject camera surveillance in private bedrooms and living quarters due to dignity loss.</a:t>
            </a:r>
          </a:p>
          <a:p>
            <a:pPr>
              <a:spcBef>
                <a:spcPts val="1000"/>
              </a:spcBef>
            </a:pPr>
            <a:r>
              <a:rPr b="1" sz="1100">
                <a:solidFill>
                  <a:srgbClr val="18181B"/>
                </a:solidFill>
              </a:rPr>
              <a:t>• Regulatory &amp; Security Risk: </a:t>
            </a:r>
            <a:r>
              <a:rPr sz="1100">
                <a:solidFill>
                  <a:srgbClr val="374151"/>
                </a:solidFill>
              </a:rPr>
              <a:t>Transmission and cloud storage of sensitive biometric data violates strict healthcare privacy standards (HIPAA, GDPR).</a:t>
            </a:r>
          </a:p>
          <a:p>
            <a:pPr>
              <a:spcBef>
                <a:spcPts val="1000"/>
              </a:spcBef>
            </a:pPr>
            <a:r>
              <a:rPr b="1" sz="1100">
                <a:solidFill>
                  <a:srgbClr val="18181B"/>
                </a:solidFill>
              </a:rPr>
              <a:t>• Recurring Costs: </a:t>
            </a:r>
            <a:r>
              <a:rPr sz="1100">
                <a:solidFill>
                  <a:srgbClr val="374151"/>
                </a:solidFill>
              </a:rPr>
              <a:t>Cloud health monitoring services impose mandatory monthly subscription fees that strain low-income seniors.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1325880"/>
            <a:ext cx="3328416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02752" y="1508760"/>
            <a:ext cx="2962656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CC0000"/>
                </a:solidFill>
                <a:latin typeface="Arial"/>
              </a:defRPr>
            </a:pPr>
            <a:r>
              <a:t>3. Technical &amp; Algorithmic Limits</a:t>
            </a:r>
          </a:p>
          <a:p>
            <a:pPr>
              <a:spcBef>
                <a:spcPts val="1000"/>
              </a:spcBef>
            </a:pPr>
            <a:r>
              <a:rPr b="1" sz="1100">
                <a:solidFill>
                  <a:srgbClr val="18181B"/>
                </a:solidFill>
              </a:rPr>
              <a:t>• Internet Single Point of Failure: </a:t>
            </a:r>
            <a:r>
              <a:rPr sz="1100">
                <a:solidFill>
                  <a:srgbClr val="374151"/>
                </a:solidFill>
              </a:rPr>
              <a:t>Broadband or router outages render cloud-dependent emergency detection totally offline.</a:t>
            </a:r>
          </a:p>
          <a:p>
            <a:pPr>
              <a:spcBef>
                <a:spcPts val="1000"/>
              </a:spcBef>
            </a:pPr>
            <a:r>
              <a:rPr b="1" sz="1100">
                <a:solidFill>
                  <a:srgbClr val="18181B"/>
                </a:solidFill>
              </a:rPr>
              <a:t>• LLM Hallucination Threat: </a:t>
            </a:r>
            <a:r>
              <a:rPr sz="1100">
                <a:solidFill>
                  <a:srgbClr val="374151"/>
                </a:solidFill>
              </a:rPr>
              <a:t>Unconstrained generative LLMs risk inventing dangerous medical diagnoses or clinical directives.</a:t>
            </a:r>
          </a:p>
          <a:p>
            <a:pPr>
              <a:spcBef>
                <a:spcPts val="1000"/>
              </a:spcBef>
            </a:pPr>
            <a:r>
              <a:rPr b="1" sz="1100">
                <a:solidFill>
                  <a:srgbClr val="18181B"/>
                </a:solidFill>
              </a:rPr>
              <a:t>• Alarm Fatigue: </a:t>
            </a:r>
            <a:r>
              <a:rPr sz="1100">
                <a:solidFill>
                  <a:srgbClr val="374151"/>
                </a:solidFill>
              </a:rPr>
              <a:t>Generic threshold sensors bombard caregivers with false alarms, causing notification blindness.</a:t>
            </a:r>
          </a:p>
          <a:p>
            <a:pPr>
              <a:spcBef>
                <a:spcPts val="1000"/>
              </a:spcBef>
            </a:pPr>
            <a:r>
              <a:rPr b="1" sz="1100">
                <a:solidFill>
                  <a:srgbClr val="18181B"/>
                </a:solidFill>
              </a:rPr>
              <a:t>• Lack of Auditability: </a:t>
            </a:r>
            <a:r>
              <a:rPr sz="1100">
                <a:solidFill>
                  <a:srgbClr val="374151"/>
                </a:solidFill>
              </a:rPr>
              <a:t>Cloud-based AI decisions lack cryptographic provenance; no verifiable record exists if an alert is dropped.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CC0000"/>
          </a:solidFill>
          <a:ln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400800"/>
            <a:ext cx="54864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CareWatcher, Dept of AI and 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0" y="6382512"/>
            <a:ext cx="73152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its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228600"/>
            <a:ext cx="1463040" cy="83097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20040"/>
            <a:ext cx="932688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CC0000"/>
                </a:solidFill>
                <a:latin typeface="Arial"/>
              </a:defRPr>
            </a:pPr>
            <a:r>
              <a:t>CORE RESEARCH &amp; ENGINEERING GOALS</a:t>
            </a:r>
          </a:p>
          <a:p>
            <a:pPr>
              <a:defRPr sz="2600" b="1">
                <a:solidFill>
                  <a:srgbClr val="18181B"/>
                </a:solidFill>
                <a:latin typeface="Arial"/>
              </a:defRPr>
            </a:pPr>
            <a:r>
              <a:t>Project 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15568"/>
            <a:ext cx="10728655" cy="18288"/>
          </a:xfrm>
          <a:prstGeom prst="rect">
            <a:avLst/>
          </a:prstGeom>
          <a:solidFill>
            <a:srgbClr val="E6E6E6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10728655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25880"/>
            <a:ext cx="137160" cy="1417320"/>
          </a:xfrm>
          <a:prstGeom prst="rect">
            <a:avLst/>
          </a:prstGeom>
          <a:solidFill>
            <a:srgbClr val="CC0000"/>
          </a:solidFill>
          <a:ln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417320"/>
            <a:ext cx="102412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CC0000"/>
                </a:solidFill>
                <a:latin typeface="Arial"/>
              </a:defRPr>
            </a:pPr>
            <a:r>
              <a:t>Objective 1: Hardware-Enforced Zero-Cloud Privacy Architecture</a:t>
            </a:r>
          </a:p>
          <a:p>
            <a:pPr>
              <a:spcBef>
                <a:spcPts val="200"/>
              </a:spcBef>
              <a:defRPr sz="1100">
                <a:solidFill>
                  <a:srgbClr val="374151"/>
                </a:solidFill>
                <a:latin typeface="Arial"/>
              </a:defRPr>
            </a:pPr>
            <a:r>
              <a:t>To design and engineer an ambient edge computing architecture featuring a physical Privacy Shutter hard gate, ensuring 100% local on-device processing with mathematically verifiable zero network data egress.</a:t>
            </a:r>
          </a:p>
          <a:p>
            <a:pPr>
              <a:spcBef>
                <a:spcPts val="200"/>
              </a:spcBef>
              <a:defRPr sz="1000">
                <a:solidFill>
                  <a:srgbClr val="6B7280"/>
                </a:solidFill>
                <a:latin typeface="Arial"/>
              </a:defRPr>
            </a:pPr>
            <a:r>
              <a:t>▸ Physical gating of acoustic and visual sensors (guaranteed 0 bytes passed when shutter is closed).</a:t>
            </a:r>
          </a:p>
          <a:p>
            <a:pPr>
              <a:spcBef>
                <a:spcPts val="200"/>
              </a:spcBef>
              <a:defRPr sz="1000">
                <a:solidFill>
                  <a:srgbClr val="6B7280"/>
                </a:solidFill>
                <a:latin typeface="Arial"/>
              </a:defRPr>
            </a:pPr>
            <a:r>
              <a:t>▸ Full local execution of speech recognition, natural language reasoning, and database storage without cloud APIs.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907792"/>
            <a:ext cx="10728655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2907792"/>
            <a:ext cx="137160" cy="141732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999232"/>
            <a:ext cx="102412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563EB"/>
                </a:solidFill>
                <a:latin typeface="Arial"/>
              </a:defRPr>
            </a:pPr>
            <a:r>
              <a:t>Objective 2: Multimodal Passive Ambient Sensing &amp; Trend Analysis</a:t>
            </a:r>
          </a:p>
          <a:p>
            <a:pPr>
              <a:spcBef>
                <a:spcPts val="200"/>
              </a:spcBef>
              <a:defRPr sz="1100">
                <a:solidFill>
                  <a:srgbClr val="374151"/>
                </a:solidFill>
                <a:latin typeface="Arial"/>
              </a:defRPr>
            </a:pPr>
            <a:r>
              <a:t>To integrate contactless acoustic speech, local quantized LLMs, and an ESP32 multi-biosensor telemetry hub (MAX30102 PPG, MLX90614 IR Temp, MPU-6050 Motion) to passively monitor medication adherence and detect vital drift.</a:t>
            </a:r>
          </a:p>
          <a:p>
            <a:pPr>
              <a:spcBef>
                <a:spcPts val="200"/>
              </a:spcBef>
              <a:defRPr sz="1000">
                <a:solidFill>
                  <a:srgbClr val="6B7280"/>
                </a:solidFill>
                <a:latin typeface="Arial"/>
              </a:defRPr>
            </a:pPr>
            <a:r>
              <a:t>▸ Schema-constrained JSON extraction from natural resident voice responses during conversational check-ins.</a:t>
            </a:r>
          </a:p>
          <a:p>
            <a:pPr>
              <a:spcBef>
                <a:spcPts val="200"/>
              </a:spcBef>
              <a:defRPr sz="1000">
                <a:solidFill>
                  <a:srgbClr val="6B7280"/>
                </a:solidFill>
                <a:latin typeface="Arial"/>
              </a:defRPr>
            </a:pPr>
            <a:r>
              <a:t>▸ Statistical rolling baseline trend engine with Z-score drift alerts (flagging abnormal heart rate, SpO2, sleep, or mood changes).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489704"/>
            <a:ext cx="10728655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4489704"/>
            <a:ext cx="137160" cy="1417320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4581144"/>
            <a:ext cx="102412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6A34A"/>
                </a:solidFill>
                <a:latin typeface="Arial"/>
              </a:defRPr>
            </a:pPr>
            <a:r>
              <a:t>Objective 3: Decoupled Proposer-Verifier Safety &amp; Audit Provenance</a:t>
            </a:r>
          </a:p>
          <a:p>
            <a:pPr>
              <a:spcBef>
                <a:spcPts val="200"/>
              </a:spcBef>
              <a:defRPr sz="1100">
                <a:solidFill>
                  <a:srgbClr val="374151"/>
                </a:solidFill>
                <a:latin typeface="Arial"/>
              </a:defRPr>
            </a:pPr>
            <a:r>
              <a:t>To construct an isolated dual-engine safety pipeline with an append-only, SHA-256 hash-chained cryptographic audit log to eliminate diagnostic hallucinations and provide tamper-proof accountability.</a:t>
            </a:r>
          </a:p>
          <a:p>
            <a:pPr>
              <a:spcBef>
                <a:spcPts val="200"/>
              </a:spcBef>
              <a:defRPr sz="1000">
                <a:solidFill>
                  <a:srgbClr val="6B7280"/>
                </a:solidFill>
                <a:latin typeface="Arial"/>
              </a:defRPr>
            </a:pPr>
            <a:r>
              <a:t>▸ Independent Safety Verifier enforces strict clinical deny-lists, tone validation, and anti-fatigue rate limiting.</a:t>
            </a:r>
          </a:p>
          <a:p>
            <a:pPr>
              <a:spcBef>
                <a:spcPts val="200"/>
              </a:spcBef>
              <a:defRPr sz="1000">
                <a:solidFill>
                  <a:srgbClr val="6B7280"/>
                </a:solidFill>
                <a:latin typeface="Arial"/>
              </a:defRPr>
            </a:pPr>
            <a:r>
              <a:t>▸ Immutable, hash-chained ledger storing every sensory reading, proposal, and verification decision with 100% replay integrity.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CC0000"/>
          </a:solidFill>
          <a:ln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6400800"/>
            <a:ext cx="54864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CareWatcher, Dept of AI and 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0" y="6382512"/>
            <a:ext cx="73152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its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228600"/>
            <a:ext cx="1463040" cy="83097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20040"/>
            <a:ext cx="932688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CC0000"/>
                </a:solidFill>
                <a:latin typeface="Arial"/>
              </a:defRPr>
            </a:pPr>
            <a:r>
              <a:t>CONCISE SUMMARY &amp; SYSTEM RATIONALE</a:t>
            </a:r>
          </a:p>
          <a:p>
            <a:pPr>
              <a:defRPr sz="2600" b="1">
                <a:solidFill>
                  <a:srgbClr val="18181B"/>
                </a:solidFill>
                <a:latin typeface="Arial"/>
              </a:defRPr>
            </a:pPr>
            <a:r>
              <a:t>Project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15568"/>
            <a:ext cx="10728655" cy="18288"/>
          </a:xfrm>
          <a:prstGeom prst="rect">
            <a:avLst/>
          </a:prstGeom>
          <a:solidFill>
            <a:srgbClr val="E6E6E6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342900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306324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CC0000"/>
                </a:solidFill>
                <a:latin typeface="Arial"/>
              </a:defRPr>
            </a:pPr>
            <a:r>
              <a:t>ENGINEERING PROBLEM</a:t>
            </a:r>
          </a:p>
          <a:p>
            <a:pPr>
              <a:spcBef>
                <a:spcPts val="200"/>
              </a:spcBef>
              <a:defRPr sz="1200" b="1">
                <a:solidFill>
                  <a:srgbClr val="18181B"/>
                </a:solidFill>
                <a:latin typeface="Arial"/>
              </a:defRPr>
            </a:pPr>
            <a:r>
              <a:t>Real-Time Edge AI under Resource Constraints</a:t>
            </a:r>
          </a:p>
          <a:p>
            <a:pPr>
              <a:spcBef>
                <a:spcPts val="400"/>
              </a:spcBef>
              <a:defRPr sz="1000">
                <a:solidFill>
                  <a:srgbClr val="374151"/>
                </a:solidFill>
                <a:latin typeface="Arial"/>
              </a:defRPr>
            </a:pPr>
            <a:r>
              <a:t>Executing concurrent wake-word detection, speech-to-text (Whisper), LLM conversational reasoning, and continuous biosensor telemetry on consumer edge hardware with &lt;8s latency, zero cloud offloading, and deterministic memory consumption.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9976" y="1325880"/>
            <a:ext cx="342900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62856" y="1463040"/>
            <a:ext cx="306324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Arial"/>
              </a:defRPr>
            </a:pPr>
            <a:r>
              <a:t>MOTIVATION</a:t>
            </a:r>
          </a:p>
          <a:p>
            <a:pPr>
              <a:spcBef>
                <a:spcPts val="200"/>
              </a:spcBef>
              <a:defRPr sz="1200" b="1">
                <a:solidFill>
                  <a:srgbClr val="18181B"/>
                </a:solidFill>
                <a:latin typeface="Arial"/>
              </a:defRPr>
            </a:pPr>
            <a:r>
              <a:t>Dignified Autonomy for Vulnerable Seniors</a:t>
            </a:r>
          </a:p>
          <a:p>
            <a:pPr>
              <a:spcBef>
                <a:spcPts val="400"/>
              </a:spcBef>
              <a:defRPr sz="1000">
                <a:solidFill>
                  <a:srgbClr val="374151"/>
                </a:solidFill>
                <a:latin typeface="Arial"/>
              </a:defRPr>
            </a:pPr>
            <a:r>
              <a:t>Enabling aging individuals to live independently without feeling under surveillance. Replacing intrusive cameras with ambient conversational check-ins and passive non-contact vital sensing.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28431" y="1325880"/>
            <a:ext cx="342900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11311" y="1463040"/>
            <a:ext cx="306324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8181B"/>
                </a:solidFill>
                <a:latin typeface="Arial"/>
              </a:defRPr>
            </a:pPr>
            <a:r>
              <a:t>NEED FOR PROJECT</a:t>
            </a:r>
          </a:p>
          <a:p>
            <a:pPr>
              <a:spcBef>
                <a:spcPts val="200"/>
              </a:spcBef>
              <a:defRPr sz="1200" b="1">
                <a:solidFill>
                  <a:srgbClr val="18181B"/>
                </a:solidFill>
                <a:latin typeface="Arial"/>
              </a:defRPr>
            </a:pPr>
            <a:r>
              <a:t>The Global Geriatric Caregiving Crisis</a:t>
            </a:r>
          </a:p>
          <a:p>
            <a:pPr>
              <a:spcBef>
                <a:spcPts val="400"/>
              </a:spcBef>
              <a:defRPr sz="1000">
                <a:solidFill>
                  <a:srgbClr val="374151"/>
                </a:solidFill>
                <a:latin typeface="Arial"/>
              </a:defRPr>
            </a:pPr>
            <a:r>
              <a:t>Acute shortage of professional geriatric aides combined with rising elderly populations living alone. Existing smart assistants violate privacy; CareWatcher delivers continuous safety without data leakage.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794760"/>
            <a:ext cx="342900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931920"/>
            <a:ext cx="306324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6A34A"/>
                </a:solidFill>
                <a:latin typeface="Arial"/>
              </a:defRPr>
            </a:pPr>
            <a:r>
              <a:t>TARGET USERS</a:t>
            </a:r>
          </a:p>
          <a:p>
            <a:pPr>
              <a:spcBef>
                <a:spcPts val="200"/>
              </a:spcBef>
              <a:defRPr sz="1200" b="1">
                <a:solidFill>
                  <a:srgbClr val="18181B"/>
                </a:solidFill>
                <a:latin typeface="Arial"/>
              </a:defRPr>
            </a:pPr>
            <a:r>
              <a:t>Elderly Individuals &amp; Healthcare Stakeholders</a:t>
            </a:r>
          </a:p>
          <a:p>
            <a:pPr>
              <a:spcBef>
                <a:spcPts val="400"/>
              </a:spcBef>
              <a:defRPr sz="1000">
                <a:solidFill>
                  <a:srgbClr val="374151"/>
                </a:solidFill>
                <a:latin typeface="Arial"/>
              </a:defRPr>
            </a:pPr>
            <a:r>
              <a:t>Primary: Solitary elderly residents, mobility-limited individuals, post-operative recovering patients.</a:t>
            </a:r>
            <a:br/>
            <a:r>
              <a:t>Secondary: Family caregivers, geriatric nurses, assisted living facility administrators.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9976" y="3794760"/>
            <a:ext cx="342900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62856" y="3931920"/>
            <a:ext cx="306324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Arial"/>
              </a:defRPr>
            </a:pPr>
            <a:r>
              <a:t>SCOPE OF PROJECT</a:t>
            </a:r>
          </a:p>
          <a:p>
            <a:pPr>
              <a:spcBef>
                <a:spcPts val="200"/>
              </a:spcBef>
              <a:defRPr sz="1200" b="1">
                <a:solidFill>
                  <a:srgbClr val="18181B"/>
                </a:solidFill>
                <a:latin typeface="Arial"/>
              </a:defRPr>
            </a:pPr>
            <a:r>
              <a:t>Ambient Wellness Monitoring (Non-Clinical)</a:t>
            </a:r>
          </a:p>
          <a:p>
            <a:pPr>
              <a:spcBef>
                <a:spcPts val="400"/>
              </a:spcBef>
              <a:defRPr sz="1000">
                <a:solidFill>
                  <a:srgbClr val="374151"/>
                </a:solidFill>
                <a:latin typeface="Arial"/>
              </a:defRPr>
            </a:pPr>
            <a:r>
              <a:t>Covers conversational medication checks, rolling vital drift detection (BPM, SpO2, Temperature), immobility/fall alerts, and encrypted audit logging. Explicitly excludes clinical diagnosis and invasive wearable mandates.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28431" y="3794760"/>
            <a:ext cx="342900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11311" y="3931920"/>
            <a:ext cx="306324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CC0000"/>
                </a:solidFill>
                <a:latin typeface="Arial"/>
              </a:defRPr>
            </a:pPr>
            <a:r>
              <a:t>EXPECTED IMPACT</a:t>
            </a:r>
          </a:p>
          <a:p>
            <a:pPr>
              <a:spcBef>
                <a:spcPts val="200"/>
              </a:spcBef>
              <a:defRPr sz="1200" b="1">
                <a:solidFill>
                  <a:srgbClr val="18181B"/>
                </a:solidFill>
                <a:latin typeface="Arial"/>
              </a:defRPr>
            </a:pPr>
            <a:r>
              <a:t>Safe, Resilient &amp; Cost-Free Ambient Care</a:t>
            </a:r>
          </a:p>
          <a:p>
            <a:pPr>
              <a:spcBef>
                <a:spcPts val="400"/>
              </a:spcBef>
              <a:defRPr sz="1000">
                <a:solidFill>
                  <a:srgbClr val="374151"/>
                </a:solidFill>
                <a:latin typeface="Arial"/>
              </a:defRPr>
            </a:pPr>
            <a:r>
              <a:t>100% privacy preservation (HIPAA/GDPR compliant by design), zero recurring cloud subscription fees, resilient offline operation during network blackouts, and prompt caregiver alerting.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CC0000"/>
          </a:solidFill>
          <a:ln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6400800"/>
            <a:ext cx="54864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CareWatcher, Dept of AI and 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0" y="6382512"/>
            <a:ext cx="73152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its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228600"/>
            <a:ext cx="1463040" cy="83097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20040"/>
            <a:ext cx="932688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CC0000"/>
                </a:solidFill>
                <a:latin typeface="Arial"/>
              </a:defRPr>
            </a:pPr>
            <a:r>
              <a:t>MILESTONES, IMPLEMENTATION STATUS &amp; FEEDBACK INCORPORATION</a:t>
            </a:r>
          </a:p>
          <a:p>
            <a:pPr>
              <a:defRPr sz="2600" b="1">
                <a:solidFill>
                  <a:srgbClr val="18181B"/>
                </a:solidFill>
                <a:latin typeface="Arial"/>
              </a:defRPr>
            </a:pPr>
            <a:r>
              <a:t>Progress Since Zeroth Review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15568"/>
            <a:ext cx="10728655" cy="18288"/>
          </a:xfrm>
          <a:prstGeom prst="rect">
            <a:avLst/>
          </a:prstGeom>
          <a:solidFill>
            <a:srgbClr val="E6E6E6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280160"/>
          <a:ext cx="10728655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4114800"/>
                <a:gridCol w="4602175"/>
              </a:tblGrid>
              <a:tr h="418011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Parameters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Zeroth Review Proposal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Current Status (Review 1)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8181B"/>
                          </a:solidFill>
                          <a:latin typeface="Arial"/>
                        </a:defRPr>
                      </a:pPr>
                      <a:r>
                        <a:t>Literature Survey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Reviewed 15+ broad papers on smart home IoT and ambient assisted living.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Completed survey on Edge AI, Faster-Whisper, quantized LLMs, and non-clinical safety verification.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8181B"/>
                          </a:solidFill>
                          <a:latin typeface="Arial"/>
                        </a:defRPr>
                      </a:pPr>
                      <a:r>
                        <a:t>Problem Definition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General concept of smart elderly assistant with cloud sync.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Refined to 100% on-device, privacy-preserving companion with strictly non-clinical boundaries.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8181B"/>
                          </a:solidFill>
                          <a:latin typeface="Arial"/>
                        </a:defRPr>
                      </a:pPr>
                      <a:r>
                        <a:t>Architecture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Initial high-level block diagram with shared modules.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Engineered modular 8-stage pipeline with hard Privacy Shutter and isolated Proposer ↔ Verifier.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8181B"/>
                          </a:solidFill>
                          <a:latin typeface="Arial"/>
                        </a:defRPr>
                      </a:pPr>
                      <a:r>
                        <a:t>Algorithms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Planned simple rule-based keyword matching.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Implemented Faster-Whisper STT, Mistral-7B schema JSON extraction, and Z-score rolling drift algorithms.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8181B"/>
                          </a:solidFill>
                          <a:latin typeface="Arial"/>
                        </a:defRPr>
                      </a:pPr>
                      <a:r>
                        <a:t>Hardware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Preliminary sensor list (conceptual selection).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Built ESP32 sensor hub (MAX30102 PPG, MLX90614 IR Temp, MPU-6050) + local mic/webcam drivers.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8014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8181B"/>
                          </a:solidFill>
                          <a:latin typeface="Arial"/>
                        </a:defRPr>
                      </a:pPr>
                      <a:r>
                        <a:t>Software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No codebase or implementation.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Engineered complete modular Python 3.11 core (82/82 passing tests) + Local Web Dashboard.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31520" y="4343400"/>
            <a:ext cx="10728655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453128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CC0000"/>
                </a:solidFill>
                <a:latin typeface="Arial"/>
              </a:defRPr>
            </a:pPr>
            <a:r>
              <a:t>COMMITTEE SUGGESTIONS INCORPORATED</a:t>
            </a:r>
          </a:p>
          <a:p>
            <a:pPr>
              <a:spcBef>
                <a:spcPts val="400"/>
              </a:spcBef>
            </a:pPr>
            <a:r>
              <a:rPr b="1" sz="1000">
                <a:solidFill>
                  <a:srgbClr val="18181B"/>
                </a:solidFill>
              </a:rPr>
              <a:t>• Committee Suggestion 1: </a:t>
            </a:r>
            <a:r>
              <a:rPr sz="1000">
                <a:solidFill>
                  <a:srgbClr val="374151"/>
                </a:solidFill>
              </a:rPr>
              <a:t>Prevent generative AI from offering unverified clinical diagnoses or prescribing medications.  ➔  </a:t>
            </a:r>
            <a:r>
              <a:rPr b="1" sz="1000">
                <a:solidFill>
                  <a:srgbClr val="16A34A"/>
                </a:solidFill>
              </a:rPr>
              <a:t>Action Taken: </a:t>
            </a:r>
            <a:r>
              <a:rPr sz="1000">
                <a:solidFill>
                  <a:srgbClr val="374151"/>
                </a:solidFill>
              </a:rPr>
              <a:t>Created a fully decoupled SafetyVerifier that checks every proposed intervention against a strict medical deny-list, non-clinical language guidelines, and anti-fatigue rate limits before audio delivery.</a:t>
            </a:r>
          </a:p>
          <a:p>
            <a:pPr>
              <a:spcBef>
                <a:spcPts val="400"/>
              </a:spcBef>
            </a:pPr>
            <a:r>
              <a:rPr b="1" sz="1000">
                <a:solidFill>
                  <a:srgbClr val="18181B"/>
                </a:solidFill>
              </a:rPr>
              <a:t>• Committee Suggestion 2: </a:t>
            </a:r>
            <a:r>
              <a:rPr sz="1000">
                <a:solidFill>
                  <a:srgbClr val="374151"/>
                </a:solidFill>
              </a:rPr>
              <a:t>Provide tangible architectural proof that user privacy is strictly guaranteed without trusting external servers.  ➔  </a:t>
            </a:r>
            <a:r>
              <a:rPr b="1" sz="1000">
                <a:solidFill>
                  <a:srgbClr val="16A34A"/>
                </a:solidFill>
              </a:rPr>
              <a:t>Action Taken: </a:t>
            </a:r>
            <a:r>
              <a:rPr sz="1000">
                <a:solidFill>
                  <a:srgbClr val="374151"/>
                </a:solidFill>
              </a:rPr>
              <a:t>Implemented a software/hardware-gated PrivacyShutter with automated fuzz verification confirming 0 bytes pass downstream when shutter is CLOSED, alongside zero cloud egress.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CC0000"/>
          </a:solidFill>
          <a:ln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400800"/>
            <a:ext cx="54864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CareWatcher, Dept of AI and 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0" y="6382512"/>
            <a:ext cx="73152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Arial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its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228600"/>
            <a:ext cx="1463040" cy="83097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20040"/>
            <a:ext cx="932688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CC0000"/>
                </a:solidFill>
                <a:latin typeface="Arial"/>
              </a:defRPr>
            </a:pPr>
            <a:r>
              <a:t>DECOUPLED 5-LAYER EDGE PIPELINE WITH ROOT OF PRIVACY</a:t>
            </a:r>
          </a:p>
          <a:p>
            <a:pPr>
              <a:defRPr sz="2600" b="1">
                <a:solidFill>
                  <a:srgbClr val="18181B"/>
                </a:solidFill>
                <a:latin typeface="Arial"/>
              </a:defRPr>
            </a:pPr>
            <a:r>
              <a:t>System Requirements &amp; Architecture Design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15568"/>
            <a:ext cx="10728655" cy="18288"/>
          </a:xfrm>
          <a:prstGeom prst="rect">
            <a:avLst/>
          </a:prstGeom>
          <a:solidFill>
            <a:srgbClr val="E6E6E6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20116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25880"/>
            <a:ext cx="2011680" cy="685800"/>
          </a:xfrm>
          <a:prstGeom prst="rect">
            <a:avLst/>
          </a:prstGeom>
          <a:solidFill>
            <a:srgbClr val="18181B"/>
          </a:solidFill>
          <a:ln>
            <a:solidFill>
              <a:srgbClr val="1818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399032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Layer 1: Perception</a:t>
            </a:r>
          </a:p>
          <a:p>
            <a:pPr>
              <a:defRPr sz="900">
                <a:solidFill>
                  <a:srgbClr val="E6E6E6"/>
                </a:solidFill>
                <a:latin typeface="Arial"/>
              </a:defRPr>
            </a:pPr>
            <a:r>
              <a:t>Hardware &amp; Sensors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103120"/>
            <a:ext cx="182880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</a:pPr>
            <a:r>
              <a:rPr sz="1000" b="1">
                <a:solidFill>
                  <a:srgbClr val="18181B"/>
                </a:solidFill>
                <a:latin typeface="Arial"/>
              </a:rPr>
              <a:t>• Mic Source
</a:t>
            </a:r>
            <a:r>
              <a:rPr sz="900">
                <a:solidFill>
                  <a:srgbClr val="374151"/>
                </a:solidFill>
                <a:latin typeface="Arial"/>
              </a:rPr>
              <a:t>  16kHz local audio stream</a:t>
            </a:r>
          </a:p>
          <a:p>
            <a:pPr>
              <a:spcBef>
                <a:spcPts val="800"/>
              </a:spcBef>
            </a:pPr>
            <a:r>
              <a:rPr sz="1000" b="1">
                <a:solidFill>
                  <a:srgbClr val="18181B"/>
                </a:solidFill>
                <a:latin typeface="Arial"/>
              </a:rPr>
              <a:t>• Webcam Pres.
</a:t>
            </a:r>
            <a:r>
              <a:rPr sz="900">
                <a:solidFill>
                  <a:srgbClr val="374151"/>
                </a:solidFill>
                <a:latin typeface="Arial"/>
              </a:rPr>
              <a:t>  Local OpenCV Haar cascade; NO video/frames saved</a:t>
            </a:r>
          </a:p>
          <a:p>
            <a:pPr>
              <a:spcBef>
                <a:spcPts val="800"/>
              </a:spcBef>
            </a:pPr>
            <a:r>
              <a:rPr sz="1000" b="1">
                <a:solidFill>
                  <a:srgbClr val="18181B"/>
                </a:solidFill>
                <a:latin typeface="Arial"/>
              </a:rPr>
              <a:t>• ESP32 Sensor Hub
</a:t>
            </a:r>
            <a:r>
              <a:rPr sz="900">
                <a:solidFill>
                  <a:srgbClr val="374151"/>
                </a:solidFill>
                <a:latin typeface="Arial"/>
              </a:rPr>
              <a:t>  MAX30102 (BPM &amp; SpO2 via I2C)</a:t>
            </a:r>
          </a:p>
          <a:p>
            <a:pPr>
              <a:spcBef>
                <a:spcPts val="800"/>
              </a:spcBef>
            </a:pPr>
            <a:r>
              <a:rPr sz="1000" b="1">
                <a:solidFill>
                  <a:srgbClr val="18181B"/>
                </a:solidFill>
                <a:latin typeface="Arial"/>
              </a:rPr>
              <a:t>• MLX90614
</a:t>
            </a:r>
            <a:r>
              <a:rPr sz="900">
                <a:solidFill>
                  <a:srgbClr val="374151"/>
                </a:solidFill>
                <a:latin typeface="Arial"/>
              </a:rPr>
              <a:t>  Contactless IR forehead temp</a:t>
            </a:r>
          </a:p>
          <a:p>
            <a:pPr>
              <a:spcBef>
                <a:spcPts val="800"/>
              </a:spcBef>
            </a:pPr>
            <a:r>
              <a:rPr sz="1000" b="1">
                <a:solidFill>
                  <a:srgbClr val="18181B"/>
                </a:solidFill>
                <a:latin typeface="Arial"/>
              </a:rPr>
              <a:t>• MPU-6050
</a:t>
            </a:r>
            <a:r>
              <a:rPr sz="900">
                <a:solidFill>
                  <a:srgbClr val="374151"/>
                </a:solidFill>
                <a:latin typeface="Arial"/>
              </a:rPr>
              <a:t>  6-axis motion &amp; fall accelerometer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07791" y="1325880"/>
            <a:ext cx="20116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907791" y="1325880"/>
            <a:ext cx="2011680" cy="685800"/>
          </a:xfrm>
          <a:prstGeom prst="rect">
            <a:avLst/>
          </a:prstGeom>
          <a:solidFill>
            <a:srgbClr val="CC0000"/>
          </a:solidFill>
          <a:ln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53511" y="1399032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Layer 2: Privacy Root</a:t>
            </a:r>
          </a:p>
          <a:p>
            <a:pPr>
              <a:defRPr sz="900">
                <a:solidFill>
                  <a:srgbClr val="E6E6E6"/>
                </a:solidFill>
                <a:latin typeface="Arial"/>
              </a:defRPr>
            </a:pPr>
            <a:r>
              <a:t>Physical Shutter Gate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99231" y="2103120"/>
            <a:ext cx="182880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</a:pPr>
            <a:r>
              <a:rPr sz="1000" b="1">
                <a:solidFill>
                  <a:srgbClr val="18181B"/>
                </a:solidFill>
                <a:latin typeface="Arial"/>
              </a:rPr>
              <a:t>• Privacy Shutter
</a:t>
            </a:r>
            <a:r>
              <a:rPr sz="900">
                <a:solidFill>
                  <a:srgbClr val="374151"/>
                </a:solidFill>
                <a:latin typeface="Arial"/>
              </a:rPr>
              <a:t>  Hard gate root boundary</a:t>
            </a:r>
          </a:p>
          <a:p>
            <a:pPr>
              <a:spcBef>
                <a:spcPts val="800"/>
              </a:spcBef>
            </a:pPr>
            <a:r>
              <a:rPr sz="1000" b="1">
                <a:solidFill>
                  <a:srgbClr val="18181B"/>
                </a:solidFill>
                <a:latin typeface="Arial"/>
              </a:rPr>
              <a:t>• Binary State
</a:t>
            </a:r>
            <a:r>
              <a:rPr sz="900">
                <a:solidFill>
                  <a:srgbClr val="374151"/>
                </a:solidFill>
                <a:latin typeface="Arial"/>
              </a:rPr>
              <a:t>  CLOSED (default) / OPEN</a:t>
            </a:r>
          </a:p>
          <a:p>
            <a:pPr>
              <a:spcBef>
                <a:spcPts val="800"/>
              </a:spcBef>
            </a:pPr>
            <a:r>
              <a:rPr sz="1000" b="1">
                <a:solidFill>
                  <a:srgbClr val="18181B"/>
                </a:solidFill>
                <a:latin typeface="Arial"/>
              </a:rPr>
              <a:t>• Hard Isolation
</a:t>
            </a:r>
            <a:r>
              <a:rPr sz="900">
                <a:solidFill>
                  <a:srgbClr val="374151"/>
                </a:solidFill>
                <a:latin typeface="Arial"/>
              </a:rPr>
              <a:t>  Zero bytes flow downstream when closed</a:t>
            </a:r>
          </a:p>
          <a:p>
            <a:pPr>
              <a:spcBef>
                <a:spcPts val="800"/>
              </a:spcBef>
            </a:pPr>
            <a:r>
              <a:rPr sz="1000" b="1">
                <a:solidFill>
                  <a:srgbClr val="18181B"/>
                </a:solidFill>
                <a:latin typeface="Arial"/>
              </a:rPr>
              <a:t>• Manual/Voice
</a:t>
            </a:r>
            <a:r>
              <a:rPr sz="900">
                <a:solidFill>
                  <a:srgbClr val="374151"/>
                </a:solidFill>
                <a:latin typeface="Arial"/>
              </a:rPr>
              <a:t>  Hardware switch &amp; voice command toggling</a:t>
            </a:r>
          </a:p>
          <a:p>
            <a:pPr>
              <a:spcBef>
                <a:spcPts val="800"/>
              </a:spcBef>
            </a:pPr>
            <a:r>
              <a:rPr sz="1000" b="1">
                <a:solidFill>
                  <a:srgbClr val="18181B"/>
                </a:solidFill>
                <a:latin typeface="Arial"/>
              </a:rPr>
              <a:t>• Fuzz Validated
</a:t>
            </a:r>
            <a:r>
              <a:rPr sz="900">
                <a:solidFill>
                  <a:srgbClr val="374151"/>
                </a:solidFill>
                <a:latin typeface="Arial"/>
              </a:rPr>
              <a:t>  100% leak-proof verification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84064" y="1325880"/>
            <a:ext cx="20116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84064" y="1325880"/>
            <a:ext cx="2011680" cy="68580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29784" y="1399032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Layer 3: Cognition</a:t>
            </a:r>
          </a:p>
          <a:p>
            <a:pPr>
              <a:defRPr sz="900">
                <a:solidFill>
                  <a:srgbClr val="E6E6E6"/>
                </a:solidFill>
                <a:latin typeface="Arial"/>
              </a:defRPr>
            </a:pPr>
            <a:r>
              <a:t>Edge AI Pipeline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75504" y="2103120"/>
            <a:ext cx="182880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</a:pPr>
            <a:r>
              <a:rPr sz="1000" b="1">
                <a:solidFill>
                  <a:srgbClr val="18181B"/>
                </a:solidFill>
                <a:latin typeface="Arial"/>
              </a:rPr>
              <a:t>• Wake Word
</a:t>
            </a:r>
            <a:r>
              <a:rPr sz="900">
                <a:solidFill>
                  <a:srgbClr val="374151"/>
                </a:solidFill>
                <a:latin typeface="Arial"/>
              </a:rPr>
              <a:t>  'hey care' keyword detector</a:t>
            </a:r>
          </a:p>
          <a:p>
            <a:pPr>
              <a:spcBef>
                <a:spcPts val="800"/>
              </a:spcBef>
            </a:pPr>
            <a:r>
              <a:rPr sz="1000" b="1">
                <a:solidFill>
                  <a:srgbClr val="18181B"/>
                </a:solidFill>
                <a:latin typeface="Arial"/>
              </a:rPr>
              <a:t>• Whisper STT
</a:t>
            </a:r>
            <a:r>
              <a:rPr sz="900">
                <a:solidFill>
                  <a:srgbClr val="374151"/>
                </a:solidFill>
                <a:latin typeface="Arial"/>
              </a:rPr>
              <a:t>  Local Faster-Whisper base model</a:t>
            </a:r>
          </a:p>
          <a:p>
            <a:pPr>
              <a:spcBef>
                <a:spcPts val="800"/>
              </a:spcBef>
            </a:pPr>
            <a:r>
              <a:rPr sz="1000" b="1">
                <a:solidFill>
                  <a:srgbClr val="18181B"/>
                </a:solidFill>
                <a:latin typeface="Arial"/>
              </a:rPr>
              <a:t>• Mistral-7B
</a:t>
            </a:r>
            <a:r>
              <a:rPr sz="900">
                <a:solidFill>
                  <a:srgbClr val="374151"/>
                </a:solidFill>
                <a:latin typeface="Arial"/>
              </a:rPr>
              <a:t>  4-bit GGUF via llama.cpp on CPU</a:t>
            </a:r>
          </a:p>
          <a:p>
            <a:pPr>
              <a:spcBef>
                <a:spcPts val="800"/>
              </a:spcBef>
            </a:pPr>
            <a:r>
              <a:rPr sz="1000" b="1">
                <a:solidFill>
                  <a:srgbClr val="18181B"/>
                </a:solidFill>
                <a:latin typeface="Arial"/>
              </a:rPr>
              <a:t>• Schema Guard
</a:t>
            </a:r>
            <a:r>
              <a:rPr sz="900">
                <a:solidFill>
                  <a:srgbClr val="374151"/>
                </a:solidFill>
                <a:latin typeface="Arial"/>
              </a:rPr>
              <a:t>  Enforced JSON HealthEvent dataclass</a:t>
            </a:r>
          </a:p>
          <a:p>
            <a:pPr>
              <a:spcBef>
                <a:spcPts val="800"/>
              </a:spcBef>
            </a:pPr>
            <a:r>
              <a:rPr sz="1000" b="1">
                <a:solidFill>
                  <a:srgbClr val="18181B"/>
                </a:solidFill>
                <a:latin typeface="Arial"/>
              </a:rPr>
              <a:t>• Zero Cloud
</a:t>
            </a:r>
            <a:r>
              <a:rPr sz="900">
                <a:solidFill>
                  <a:srgbClr val="374151"/>
                </a:solidFill>
                <a:latin typeface="Arial"/>
              </a:rPr>
              <a:t>  Zero external network calls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60336" y="1325880"/>
            <a:ext cx="20116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260336" y="1325880"/>
            <a:ext cx="2011680" cy="685800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06056" y="1399032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Layer 4: Memory &amp; Drift</a:t>
            </a:r>
          </a:p>
          <a:p>
            <a:pPr>
              <a:defRPr sz="900">
                <a:solidFill>
                  <a:srgbClr val="E6E6E6"/>
                </a:solidFill>
                <a:latin typeface="Arial"/>
              </a:defRPr>
            </a:pPr>
            <a:r>
              <a:t>Trends &amp; Storage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51776" y="2103120"/>
            <a:ext cx="182880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</a:pPr>
            <a:r>
              <a:rPr sz="1000" b="1">
                <a:solidFill>
                  <a:srgbClr val="18181B"/>
                </a:solidFill>
                <a:latin typeface="Arial"/>
              </a:rPr>
              <a:t>• Resident DB
</a:t>
            </a:r>
            <a:r>
              <a:rPr sz="900">
                <a:solidFill>
                  <a:srgbClr val="374151"/>
                </a:solidFill>
                <a:latin typeface="Arial"/>
              </a:rPr>
              <a:t>  Local SQLite3 encrypted store</a:t>
            </a:r>
          </a:p>
          <a:p>
            <a:pPr>
              <a:spcBef>
                <a:spcPts val="800"/>
              </a:spcBef>
            </a:pPr>
            <a:r>
              <a:rPr sz="1000" b="1">
                <a:solidFill>
                  <a:srgbClr val="18181B"/>
                </a:solidFill>
                <a:latin typeface="Arial"/>
              </a:rPr>
              <a:t>• Rolling Baseline
</a:t>
            </a:r>
            <a:r>
              <a:rPr sz="900">
                <a:solidFill>
                  <a:srgbClr val="374151"/>
                </a:solidFill>
                <a:latin typeface="Arial"/>
              </a:rPr>
              <a:t>  7-day sliding window vitals</a:t>
            </a:r>
          </a:p>
          <a:p>
            <a:pPr>
              <a:spcBef>
                <a:spcPts val="800"/>
              </a:spcBef>
            </a:pPr>
            <a:r>
              <a:rPr sz="1000" b="1">
                <a:solidFill>
                  <a:srgbClr val="18181B"/>
                </a:solidFill>
                <a:latin typeface="Arial"/>
              </a:rPr>
              <a:t>• Drift Engine
</a:t>
            </a:r>
            <a:r>
              <a:rPr sz="900">
                <a:solidFill>
                  <a:srgbClr val="374151"/>
                </a:solidFill>
                <a:latin typeface="Arial"/>
              </a:rPr>
              <a:t>  Z-score statistical deviation</a:t>
            </a:r>
          </a:p>
          <a:p>
            <a:pPr>
              <a:spcBef>
                <a:spcPts val="800"/>
              </a:spcBef>
            </a:pPr>
            <a:r>
              <a:rPr sz="1000" b="1">
                <a:solidFill>
                  <a:srgbClr val="18181B"/>
                </a:solidFill>
                <a:latin typeface="Arial"/>
              </a:rPr>
              <a:t>• Vital Drift
</a:t>
            </a:r>
            <a:r>
              <a:rPr sz="900">
                <a:solidFill>
                  <a:srgbClr val="374151"/>
                </a:solidFill>
                <a:latin typeface="Arial"/>
              </a:rPr>
              <a:t>  SpO2 &lt;92%, BPM delta &gt;20</a:t>
            </a:r>
          </a:p>
          <a:p>
            <a:pPr>
              <a:spcBef>
                <a:spcPts val="800"/>
              </a:spcBef>
            </a:pPr>
            <a:r>
              <a:rPr sz="1000" b="1">
                <a:solidFill>
                  <a:srgbClr val="18181B"/>
                </a:solidFill>
                <a:latin typeface="Arial"/>
              </a:rPr>
              <a:t>• Inactivity Check
</a:t>
            </a:r>
            <a:r>
              <a:rPr sz="900">
                <a:solidFill>
                  <a:srgbClr val="374151"/>
                </a:solidFill>
                <a:latin typeface="Arial"/>
              </a:rPr>
              <a:t>  90-min sedentary threshold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436608" y="1325880"/>
            <a:ext cx="20116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436608" y="1325880"/>
            <a:ext cx="2011680" cy="685800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82328" y="1399032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Layer 5: Safety &amp; Action</a:t>
            </a:r>
          </a:p>
          <a:p>
            <a:pPr>
              <a:defRPr sz="900">
                <a:solidFill>
                  <a:srgbClr val="E6E6E6"/>
                </a:solidFill>
                <a:latin typeface="Arial"/>
              </a:defRPr>
            </a:pPr>
            <a:r>
              <a:t>Verifier &amp; Delivery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28048" y="2103120"/>
            <a:ext cx="182880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</a:pPr>
            <a:r>
              <a:rPr sz="1000" b="1">
                <a:solidFill>
                  <a:srgbClr val="18181B"/>
                </a:solidFill>
                <a:latin typeface="Arial"/>
              </a:rPr>
              <a:t>• Rule Proposer
</a:t>
            </a:r>
            <a:r>
              <a:rPr sz="900">
                <a:solidFill>
                  <a:srgbClr val="374151"/>
                </a:solidFill>
                <a:latin typeface="Arial"/>
              </a:rPr>
              <a:t>  Generates candidate interventions</a:t>
            </a:r>
          </a:p>
          <a:p>
            <a:pPr>
              <a:spcBef>
                <a:spcPts val="800"/>
              </a:spcBef>
            </a:pPr>
            <a:r>
              <a:rPr sz="1000" b="1">
                <a:solidFill>
                  <a:srgbClr val="18181B"/>
                </a:solidFill>
                <a:latin typeface="Arial"/>
              </a:rPr>
              <a:t>• Safety Verifier
</a:t>
            </a:r>
            <a:r>
              <a:rPr sz="900">
                <a:solidFill>
                  <a:srgbClr val="374151"/>
                </a:solidFill>
                <a:latin typeface="Arial"/>
              </a:rPr>
              <a:t>  Independent gate (no imports of Proposer)</a:t>
            </a:r>
          </a:p>
          <a:p>
            <a:pPr>
              <a:spcBef>
                <a:spcPts val="800"/>
              </a:spcBef>
            </a:pPr>
            <a:r>
              <a:rPr sz="1000" b="1">
                <a:solidFill>
                  <a:srgbClr val="18181B"/>
                </a:solidFill>
                <a:latin typeface="Arial"/>
              </a:rPr>
              <a:t>• Medical Deny-List
</a:t>
            </a:r>
            <a:r>
              <a:rPr sz="900">
                <a:solidFill>
                  <a:srgbClr val="374151"/>
                </a:solidFill>
                <a:latin typeface="Arial"/>
              </a:rPr>
              <a:t>  Blocks diagnostic/clinical terms</a:t>
            </a:r>
          </a:p>
          <a:p>
            <a:pPr>
              <a:spcBef>
                <a:spcPts val="800"/>
              </a:spcBef>
            </a:pPr>
            <a:r>
              <a:rPr sz="1000" b="1">
                <a:solidFill>
                  <a:srgbClr val="18181B"/>
                </a:solidFill>
                <a:latin typeface="Arial"/>
              </a:rPr>
              <a:t>• Piper TTS
</a:t>
            </a:r>
            <a:r>
              <a:rPr sz="900">
                <a:solidFill>
                  <a:srgbClr val="374151"/>
                </a:solidFill>
                <a:latin typeface="Arial"/>
              </a:rPr>
              <a:t>  Local neural speech delivery</a:t>
            </a:r>
          </a:p>
          <a:p>
            <a:pPr>
              <a:spcBef>
                <a:spcPts val="800"/>
              </a:spcBef>
            </a:pPr>
            <a:r>
              <a:rPr sz="1000" b="1">
                <a:solidFill>
                  <a:srgbClr val="18181B"/>
                </a:solidFill>
                <a:latin typeface="Arial"/>
              </a:rPr>
              <a:t>• SHA-256 Audit
</a:t>
            </a:r>
            <a:r>
              <a:rPr sz="900">
                <a:solidFill>
                  <a:srgbClr val="374151"/>
                </a:solidFill>
                <a:latin typeface="Arial"/>
              </a:rPr>
              <a:t>  Tamper-evident hash-chained log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CC0000"/>
          </a:solidFill>
          <a:ln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6400800"/>
            <a:ext cx="54864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CareWatcher, Dept of AI and DS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89920" y="6382512"/>
            <a:ext cx="73152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Arial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its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228600"/>
            <a:ext cx="1463040" cy="83097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20040"/>
            <a:ext cx="932688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CC0000"/>
                </a:solidFill>
                <a:latin typeface="Arial"/>
              </a:defRPr>
            </a:pPr>
            <a:r>
              <a:t>END-TO-END MULTIMODAL PROCESSING WORKFLOW</a:t>
            </a:r>
          </a:p>
          <a:p>
            <a:pPr>
              <a:defRPr sz="2600" b="1">
                <a:solidFill>
                  <a:srgbClr val="18181B"/>
                </a:solidFill>
                <a:latin typeface="Arial"/>
              </a:defRPr>
            </a:pPr>
            <a:r>
              <a:t>Methodology &amp; Execution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15568"/>
            <a:ext cx="10728655" cy="18288"/>
          </a:xfrm>
          <a:prstGeom prst="rect">
            <a:avLst/>
          </a:prstGeom>
          <a:solidFill>
            <a:srgbClr val="E6E6E6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52120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563EB"/>
                </a:solidFill>
                <a:latin typeface="Arial"/>
              </a:defRPr>
            </a:pPr>
            <a:r>
              <a:t>AI &amp; Conversational Intelligence Methodology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18181B"/>
                </a:solidFill>
              </a:rPr>
              <a:t>• Speech Processing Pipeline: </a:t>
            </a:r>
            <a:r>
              <a:rPr sz="1000">
                <a:solidFill>
                  <a:srgbClr val="374151"/>
                </a:solidFill>
              </a:rPr>
              <a:t>Captures 16 kHz raw PCM audio chunks. Ingests via Faster-Whisper base model (CTranslate2 CPU backend) for fast word-error-rate performance without external speech APIs.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18181B"/>
                </a:solidFill>
              </a:rPr>
              <a:t>• Wake-Word Activation: </a:t>
            </a:r>
            <a:r>
              <a:rPr sz="1000">
                <a:solidFill>
                  <a:srgbClr val="374151"/>
                </a:solidFill>
              </a:rPr>
              <a:t>Keyword detection pipeline continually scans transcripts for 'hey care' before triggering active conversational agent state.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18181B"/>
                </a:solidFill>
              </a:rPr>
              <a:t>• Schema-Constrained LLM Reasoning: </a:t>
            </a:r>
            <a:r>
              <a:rPr sz="1000">
                <a:solidFill>
                  <a:srgbClr val="374151"/>
                </a:solidFill>
              </a:rPr>
              <a:t>Utilizes 4-bit quantized Mistral-7B-Instruct (Q4_K_M GGUF) via llama.cpp. Prompts strictly constrain output to validated JSON schemas (category, summary, confidence, mood_label).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18181B"/>
                </a:solidFill>
              </a:rPr>
              <a:t>• Rolling Baseline Drift Detection: </a:t>
            </a:r>
            <a:r>
              <a:rPr sz="1000">
                <a:solidFill>
                  <a:srgbClr val="374151"/>
                </a:solidFill>
              </a:rPr>
              <a:t>Maintains 7-day personal vital statistics (mean, standard deviation). Detects anomalies via dynamic thresholds (e.g., SpO2 &lt; 92%, BPM shift &gt; 20, continuous negative sentiment).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18181B"/>
                </a:solidFill>
              </a:rPr>
              <a:t>• Verification Testing: </a:t>
            </a:r>
            <a:r>
              <a:rPr sz="1000">
                <a:solidFill>
                  <a:srgbClr val="374151"/>
                </a:solidFill>
              </a:rPr>
              <a:t>Automated test suite (test_agent.py, test_pipeline.py) rigorously evaluates prompt adherence and schema validation against synthetic conversational transcripts.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48095" y="1325880"/>
            <a:ext cx="52120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30975" y="150876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CC0000"/>
                </a:solidFill>
                <a:latin typeface="Arial"/>
              </a:defRPr>
            </a:pPr>
            <a:r>
              <a:t>Hardware Integration &amp; Safety Verification Methodology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18181B"/>
                </a:solidFill>
              </a:rPr>
              <a:t>• Microcontroller Hub &amp; Bus Architecture: </a:t>
            </a:r>
            <a:r>
              <a:rPr sz="1000">
                <a:solidFill>
                  <a:srgbClr val="374151"/>
                </a:solidFill>
              </a:rPr>
              <a:t>ESP32-WROOM-32 coordinates MAX30102 (PPG) and MLX90614 (IR Temp) over I2C (GPIO 21 SDA, GPIO 22 SCL) and HC-SR501 over GPIO 13. Communicates via USB Virtual COM @ 115200 baud.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18181B"/>
                </a:solidFill>
              </a:rPr>
              <a:t>• Physical Shutter Gating: </a:t>
            </a:r>
            <a:r>
              <a:rPr sz="1000">
                <a:solidFill>
                  <a:srgbClr val="374151"/>
                </a:solidFill>
              </a:rPr>
              <a:t>All incoming sensory feeds pass through the PrivacyShutter state machine. Gated at the root boundary: zero bytes exit driver layers when shutter is CLOSED.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18181B"/>
                </a:solidFill>
              </a:rPr>
              <a:t>• Decoupled Safety Verifier: </a:t>
            </a:r>
            <a:r>
              <a:rPr sz="1000">
                <a:solidFill>
                  <a:srgbClr val="374151"/>
                </a:solidFill>
              </a:rPr>
              <a:t>Zero shared imports with Proposer engine. Inspects every proposed intervention for clinical claims, quiet hours (22:00–07:00), and rate-limits (max 3 reminders/hour).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18181B"/>
                </a:solidFill>
              </a:rPr>
              <a:t>• Actuation &amp; Delivery: </a:t>
            </a:r>
            <a:r>
              <a:rPr sz="1000">
                <a:solidFill>
                  <a:srgbClr val="374151"/>
                </a:solidFill>
              </a:rPr>
              <a:t>Approved interventions synthesize locally via Piper neural TTS (en_US-lessac voice) and stream real-time JSON events to the local Web Dashboard.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18181B"/>
                </a:solidFill>
              </a:rPr>
              <a:t>• Tamper-Evident SHA-256 Audit: </a:t>
            </a:r>
            <a:r>
              <a:rPr sz="1000">
                <a:solidFill>
                  <a:srgbClr val="374151"/>
                </a:solidFill>
              </a:rPr>
              <a:t>Each event (readings, proposals, verifier decisions) is hashed deterministically with the previous block's SHA-256 digest, guaranteeing cryptographic integrity.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CC0000"/>
          </a:solidFill>
          <a:ln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6400800"/>
            <a:ext cx="54864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CareWatcher, Dept of AI and 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0" y="6382512"/>
            <a:ext cx="73152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Arial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its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228600"/>
            <a:ext cx="1463040" cy="83097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20040"/>
            <a:ext cx="932688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CC0000"/>
                </a:solidFill>
                <a:latin typeface="Arial"/>
              </a:defRPr>
            </a:pPr>
            <a:r>
              <a:t>CURATED SELECTION FOR PRIVACY, PERFORMANCE, AND EDGE INDEPENDENCE</a:t>
            </a:r>
          </a:p>
          <a:p>
            <a:pPr>
              <a:defRPr sz="2600" b="1">
                <a:solidFill>
                  <a:srgbClr val="18181B"/>
                </a:solidFill>
                <a:latin typeface="Arial"/>
              </a:defRPr>
            </a:pPr>
            <a:r>
              <a:t>Technology Stack &amp; Technical Justifications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15568"/>
            <a:ext cx="10728655" cy="18288"/>
          </a:xfrm>
          <a:prstGeom prst="rect">
            <a:avLst/>
          </a:prstGeom>
          <a:solidFill>
            <a:srgbClr val="E6E6E6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325880"/>
          <a:ext cx="10728655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200400"/>
                <a:gridCol w="5516575"/>
              </a:tblGrid>
              <a:tr h="466344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Stack Layer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Technology / Framework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Technical Justification &amp; Architectural Trade-off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8181B"/>
                          </a:solidFill>
                          <a:latin typeface="Arial"/>
                        </a:defRPr>
                      </a:pPr>
                      <a:r>
                        <a:t>Microcontroller Hub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8181B"/>
                          </a:solidFill>
                          <a:latin typeface="Arial"/>
                        </a:defRPr>
                      </a:pPr>
                      <a:r>
                        <a:t>ESP32-WROOM-32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Low-cost dual-core 240MHz SoC with hardware I2C/UART; supports real-time biosensor acquisition with zero OS jitter.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8181B"/>
                          </a:solidFill>
                          <a:latin typeface="Arial"/>
                        </a:defRPr>
                      </a:pPr>
                      <a:r>
                        <a:t>PPG Biosensor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8181B"/>
                          </a:solidFill>
                          <a:latin typeface="Arial"/>
                        </a:defRPr>
                      </a:pPr>
                      <a:r>
                        <a:t>MAX30102 Pulse Oximeter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Dual-wavelength (660nm &amp; 880nm) photoplethysmography providing clinical-grade heart rate and SpO2 readings.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8181B"/>
                          </a:solidFill>
                          <a:latin typeface="Arial"/>
                        </a:defRPr>
                      </a:pPr>
                      <a:r>
                        <a:t>IR Temperature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8181B"/>
                          </a:solidFill>
                          <a:latin typeface="Arial"/>
                        </a:defRPr>
                      </a:pPr>
                      <a:r>
                        <a:t>MLX90614 Contactless IR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Medical-grade non-contact thermometry (±0.2°C accuracy); measures body temperature passively without touching the resident.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8181B"/>
                          </a:solidFill>
                          <a:latin typeface="Arial"/>
                        </a:defRPr>
                      </a:pPr>
                      <a:r>
                        <a:t>Motion &amp; IMU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8181B"/>
                          </a:solidFill>
                          <a:latin typeface="Arial"/>
                        </a:defRPr>
                      </a:pPr>
                      <a:r>
                        <a:t>MPU-6050 6-Axis Accelerometer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Detects resident tremors, room movement, and sudden high-g impact forces characteristic of physical falls.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8181B"/>
                          </a:solidFill>
                          <a:latin typeface="Arial"/>
                        </a:defRPr>
                      </a:pPr>
                      <a:r>
                        <a:t>Speech-to-Text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8181B"/>
                          </a:solidFill>
                          <a:latin typeface="Arial"/>
                        </a:defRPr>
                      </a:pPr>
                      <a:r>
                        <a:t>OpenAI Faster-Whisper (base)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CTranslate2 optimized; 4x faster execution &amp; 50% less RAM than vanilla Whisper, enabling low-latency CPU speech transcription.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8181B"/>
                          </a:solidFill>
                          <a:latin typeface="Arial"/>
                        </a:defRPr>
                      </a:pPr>
                      <a:r>
                        <a:t>Edge LLM Reasoning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8181B"/>
                          </a:solidFill>
                          <a:latin typeface="Arial"/>
                        </a:defRPr>
                      </a:pPr>
                      <a:r>
                        <a:t>Mistral-7B Q4_K_M (llama.cpp)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Quantized 4-bit weights run within 4GB RAM on standard laptop CPU; provides structured JSON health event extraction.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8181B"/>
                          </a:solidFill>
                          <a:latin typeface="Arial"/>
                        </a:defRPr>
                      </a:pPr>
                      <a:r>
                        <a:t>Neural Speech Synth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8181B"/>
                          </a:solidFill>
                          <a:latin typeface="Arial"/>
                        </a:defRPr>
                      </a:pPr>
                      <a:r>
                        <a:t>Piper TTS / pyttsx3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High-fidelity, ultra-low latency neural text-to-speech engine running 100% locally with zero cloud streaming.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8181B"/>
                          </a:solidFill>
                          <a:latin typeface="Arial"/>
                        </a:defRPr>
                      </a:pPr>
                      <a:r>
                        <a:t>Local Database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8181B"/>
                          </a:solidFill>
                          <a:latin typeface="Arial"/>
                        </a:defRPr>
                      </a:pPr>
                      <a:r>
                        <a:t>SQLite 3 (data/resident.db)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Zero-configuration, ACID compliant serverless SQL engine; maintains rolling resident baselines and event history locally.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8181B"/>
                          </a:solidFill>
                          <a:latin typeface="Arial"/>
                        </a:defRPr>
                      </a:pPr>
                      <a:r>
                        <a:t>Web Architecture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8181B"/>
                          </a:solidFill>
                          <a:latin typeface="Arial"/>
                        </a:defRPr>
                      </a:pPr>
                      <a:r>
                        <a:t>Python http.server + Vanilla JS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Standard library HTTP server with zero third-party web bloat; renders real-time dashboard UI directly on localhost.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CC0000"/>
          </a:solidFill>
          <a:ln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54864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CareWatcher, Dept of AI and 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382512"/>
            <a:ext cx="73152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Arial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its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228600"/>
            <a:ext cx="1463040" cy="83097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20040"/>
            <a:ext cx="932688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CC0000"/>
                </a:solidFill>
                <a:latin typeface="Arial"/>
              </a:defRPr>
            </a:pPr>
            <a:r>
              <a:t>EMPIRICAL EVIDENCE OF WORKING SYSTEM IMPLEMENTATION</a:t>
            </a:r>
          </a:p>
          <a:p>
            <a:pPr>
              <a:defRPr sz="2600" b="1">
                <a:solidFill>
                  <a:srgbClr val="18181B"/>
                </a:solidFill>
                <a:latin typeface="Arial"/>
              </a:defRPr>
            </a:pPr>
            <a:r>
              <a:t>Preliminary &amp; Interim Results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15568"/>
            <a:ext cx="10728655" cy="18288"/>
          </a:xfrm>
          <a:prstGeom prst="rect">
            <a:avLst/>
          </a:prstGeom>
          <a:solidFill>
            <a:srgbClr val="E6E6E6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512064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4754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CC0000"/>
                </a:solidFill>
                <a:latin typeface="Arial"/>
              </a:defRPr>
            </a:pPr>
            <a:r>
              <a:t>Live Operational Web Dashboard (Running on Localhost)</a:t>
            </a:r>
          </a:p>
        </p:txBody>
      </p:sp>
      <p:pic>
        <p:nvPicPr>
          <p:cNvPr id="7" name="Picture 6" descr="dashboard_screensh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920240"/>
            <a:ext cx="4754880" cy="225856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14400" y="5303519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i="1">
                <a:solidFill>
                  <a:srgbClr val="6B7280"/>
                </a:solidFill>
                <a:latin typeface="Arial"/>
              </a:defRPr>
            </a:pPr>
            <a:r>
              <a:t>Fig 9.1: CareWatcher live web UI displaying active Privacy Shutter, real-time ESP32 vitals telemetry, conversational audit trail, and zero-cloud shield verification.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325880"/>
            <a:ext cx="5333695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463040"/>
            <a:ext cx="496793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6A34A"/>
                </a:solidFill>
                <a:latin typeface="Arial"/>
              </a:defRPr>
            </a:pPr>
            <a:r>
              <a:t>Validated Functional Milestones (M0 to M8 Complete)</a:t>
            </a:r>
          </a:p>
          <a:p>
            <a:pPr>
              <a:spcBef>
                <a:spcPts val="700"/>
              </a:spcBef>
            </a:pPr>
            <a:r>
              <a:rPr b="1" sz="1000">
                <a:solidFill>
                  <a:srgbClr val="18181B"/>
                </a:solidFill>
              </a:rPr>
              <a:t>✔ Automated Test Suite: </a:t>
            </a:r>
            <a:r>
              <a:rPr sz="950">
                <a:solidFill>
                  <a:srgbClr val="374151"/>
                </a:solidFill>
              </a:rPr>
              <a:t>82 / 82 tests passing (100% pass rate in 3.03s) across config, shutter, STT, LLM schema parsing, memory store, and audit logging.</a:t>
            </a:r>
          </a:p>
          <a:p>
            <a:pPr>
              <a:spcBef>
                <a:spcPts val="700"/>
              </a:spcBef>
            </a:pPr>
            <a:r>
              <a:rPr b="1" sz="1000">
                <a:solidFill>
                  <a:srgbClr val="18181B"/>
                </a:solidFill>
              </a:rPr>
              <a:t>✔ Privacy Shutter Verification: </a:t>
            </a:r>
            <a:r>
              <a:rPr sz="950">
                <a:solidFill>
                  <a:srgbClr val="374151"/>
                </a:solidFill>
              </a:rPr>
              <a:t>Automated fuzz tests confirm 0 bytes leaked when shutter is in CLOSED state. Physical toggle verified in live runtime.</a:t>
            </a:r>
          </a:p>
          <a:p>
            <a:pPr>
              <a:spcBef>
                <a:spcPts val="700"/>
              </a:spcBef>
            </a:pPr>
            <a:r>
              <a:rPr b="1" sz="1000">
                <a:solidFill>
                  <a:srgbClr val="18181B"/>
                </a:solidFill>
              </a:rPr>
              <a:t>✔ Conversational Extraction: </a:t>
            </a:r>
            <a:r>
              <a:rPr sz="950">
                <a:solidFill>
                  <a:srgbClr val="374151"/>
                </a:solidFill>
              </a:rPr>
              <a:t>Resident voice utterance 'hey care I forgot to take my morning blood pressure pills' accurately transcribed and parsed into structured MEDICATION event.</a:t>
            </a:r>
          </a:p>
          <a:p>
            <a:pPr>
              <a:spcBef>
                <a:spcPts val="700"/>
              </a:spcBef>
            </a:pPr>
            <a:r>
              <a:rPr b="1" sz="1000">
                <a:solidFill>
                  <a:srgbClr val="18181B"/>
                </a:solidFill>
              </a:rPr>
              <a:t>✔ Rolling Baseline Drift Detection: </a:t>
            </a:r>
            <a:r>
              <a:rPr sz="950">
                <a:solidFill>
                  <a:srgbClr val="374151"/>
                </a:solidFill>
              </a:rPr>
              <a:t>Injected 110 BPM tachycardia reading immediately triggered drift alert against resident's 72 BPM baseline (Z-score &gt; threshold).</a:t>
            </a:r>
          </a:p>
          <a:p>
            <a:pPr>
              <a:spcBef>
                <a:spcPts val="700"/>
              </a:spcBef>
            </a:pPr>
            <a:r>
              <a:rPr b="1" sz="1000">
                <a:solidFill>
                  <a:srgbClr val="18181B"/>
                </a:solidFill>
              </a:rPr>
              <a:t>✔ Safety Verifier Efficacy: </a:t>
            </a:r>
            <a:r>
              <a:rPr sz="950">
                <a:solidFill>
                  <a:srgbClr val="374151"/>
                </a:solidFill>
              </a:rPr>
              <a:t>100% rejection rate for diagnostic/prescriptive medical words in deny-list; strictly enforced non-clinical reminder phrasing.</a:t>
            </a:r>
          </a:p>
          <a:p>
            <a:pPr>
              <a:spcBef>
                <a:spcPts val="700"/>
              </a:spcBef>
            </a:pPr>
            <a:r>
              <a:rPr b="1" sz="1000">
                <a:solidFill>
                  <a:srgbClr val="18181B"/>
                </a:solidFill>
              </a:rPr>
              <a:t>✔ Cryptographic Audit Chain: </a:t>
            </a:r>
            <a:r>
              <a:rPr sz="950">
                <a:solidFill>
                  <a:srgbClr val="374151"/>
                </a:solidFill>
              </a:rPr>
              <a:t>Deterministic SHA-256 hashing verified with 100% valid blockchain-style sequence integrity across all system events.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CC0000"/>
          </a:solidFill>
          <a:ln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400800"/>
            <a:ext cx="54864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CareWatcher, Dept of AI and 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0" y="6382512"/>
            <a:ext cx="73152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Arial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its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228600"/>
            <a:ext cx="1463040" cy="83097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20040"/>
            <a:ext cx="932688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CC0000"/>
                </a:solidFill>
                <a:latin typeface="Arial"/>
              </a:defRPr>
            </a:pPr>
            <a:r>
              <a:t>QUANTIFIED PROGRESS BREAKDOWN (70% COMPLETED  |  30% REMAINING)</a:t>
            </a:r>
          </a:p>
          <a:p>
            <a:pPr>
              <a:defRPr sz="2600" b="1">
                <a:solidFill>
                  <a:srgbClr val="18181B"/>
                </a:solidFill>
                <a:latin typeface="Arial"/>
              </a:defRPr>
            </a:pPr>
            <a:r>
              <a:t>Remaining Work &amp; Completion Status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15568"/>
            <a:ext cx="10728655" cy="18288"/>
          </a:xfrm>
          <a:prstGeom prst="rect">
            <a:avLst/>
          </a:prstGeom>
          <a:solidFill>
            <a:srgbClr val="E6E6E6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10728655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25880"/>
            <a:ext cx="7510058" cy="640080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41578" y="1325880"/>
            <a:ext cx="3218596" cy="640080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35608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PROJECT STATUS:  70% COMPLETED (CORE PIPELINE OPERATIONAL)   |   30% REMAINING (PHYSICAL HOUSING &amp; FIELD PILOT)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148840"/>
            <a:ext cx="521208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258568"/>
            <a:ext cx="4846320" cy="1645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CC0000"/>
                </a:solidFill>
                <a:latin typeface="Arial"/>
              </a:defRPr>
            </a:pPr>
            <a:r>
              <a:t>1. Physical Enclosure &amp; Hardware Packaging</a:t>
            </a:r>
          </a:p>
          <a:p>
            <a:pPr>
              <a:spcBef>
                <a:spcPts val="200"/>
              </a:spcBef>
              <a:defRPr sz="1000" b="1">
                <a:solidFill>
                  <a:srgbClr val="18181B"/>
                </a:solidFill>
                <a:latin typeface="Arial"/>
              </a:defRPr>
            </a:pPr>
            <a:r>
              <a:t>Current: 40% Complete  |  Target: W16</a:t>
            </a:r>
          </a:p>
          <a:p>
            <a:pPr>
              <a:spcBef>
                <a:spcPts val="400"/>
              </a:spcBef>
              <a:defRPr sz="950">
                <a:solidFill>
                  <a:srgbClr val="374151"/>
                </a:solidFill>
                <a:latin typeface="Arial"/>
              </a:defRPr>
            </a:pPr>
            <a:r>
              <a:t>• CAD modeling of the desktop companion enclosure.</a:t>
            </a:r>
            <a:br/>
            <a:r>
              <a:t>• 3D printing of durable housing with integrated physical sliding shutter.</a:t>
            </a:r>
            <a:br/>
            <a:r>
              <a:t>• PCB perf-board assembly connecting ESP32, MAX30102, and status LEDs.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8095" y="2148840"/>
            <a:ext cx="521208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30975" y="2258568"/>
            <a:ext cx="4846320" cy="1645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  <a:latin typeface="Arial"/>
              </a:defRPr>
            </a:pPr>
            <a:r>
              <a:t>2. Extended Residential Field Pilot Trial</a:t>
            </a:r>
          </a:p>
          <a:p>
            <a:pPr>
              <a:spcBef>
                <a:spcPts val="200"/>
              </a:spcBef>
              <a:defRPr sz="1000" b="1">
                <a:solidFill>
                  <a:srgbClr val="18181B"/>
                </a:solidFill>
                <a:latin typeface="Arial"/>
              </a:defRPr>
            </a:pPr>
            <a:r>
              <a:t>Current: 30% Complete  |  Target: W17</a:t>
            </a:r>
          </a:p>
          <a:p>
            <a:pPr>
              <a:spcBef>
                <a:spcPts val="400"/>
              </a:spcBef>
              <a:defRPr sz="950">
                <a:solidFill>
                  <a:srgbClr val="374151"/>
                </a:solidFill>
                <a:latin typeface="Arial"/>
              </a:defRPr>
            </a:pPr>
            <a:r>
              <a:t>• Deploying prototype in a 7-day residential test with elderly participant.</a:t>
            </a:r>
            <a:br/>
            <a:r>
              <a:t>• Calibrating personal baseline parameters across real-world sleep and activity.</a:t>
            </a:r>
            <a:br/>
            <a:r>
              <a:t>• Collecting usability feedback regarding voice clarity and prompt naturalness.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160520"/>
            <a:ext cx="521208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270248"/>
            <a:ext cx="4846320" cy="1645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D97706"/>
                </a:solidFill>
                <a:latin typeface="Arial"/>
              </a:defRPr>
            </a:pPr>
            <a:r>
              <a:t>3. Edge Hardware Acceleration &amp; Optimization</a:t>
            </a:r>
          </a:p>
          <a:p>
            <a:pPr>
              <a:spcBef>
                <a:spcPts val="200"/>
              </a:spcBef>
              <a:defRPr sz="1000" b="1">
                <a:solidFill>
                  <a:srgbClr val="18181B"/>
                </a:solidFill>
                <a:latin typeface="Arial"/>
              </a:defRPr>
            </a:pPr>
            <a:r>
              <a:t>Current: 60% Complete  |  Target: W18</a:t>
            </a:r>
          </a:p>
          <a:p>
            <a:pPr>
              <a:spcBef>
                <a:spcPts val="400"/>
              </a:spcBef>
              <a:defRPr sz="950">
                <a:solidFill>
                  <a:srgbClr val="374151"/>
                </a:solidFill>
                <a:latin typeface="Arial"/>
              </a:defRPr>
            </a:pPr>
            <a:r>
              <a:t>• Exploring INT4 NPU / Vulkan GPU offloading to reduce LLM latency (&lt;1.5s).</a:t>
            </a:r>
            <a:br/>
            <a:r>
              <a:t>• Fine-tuning wake-word detector sensitivity to minimize false rejections.</a:t>
            </a:r>
            <a:br/>
            <a:r>
              <a:t>• Optimizing ESP32 low-power deep sleep cycles during inactive hours.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48095" y="4160520"/>
            <a:ext cx="521208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30975" y="4270248"/>
            <a:ext cx="4846320" cy="1645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6A34A"/>
                </a:solidFill>
                <a:latin typeface="Arial"/>
              </a:defRPr>
            </a:pPr>
            <a:r>
              <a:t>4. Comprehensive Thesis &amp; Academic Paper</a:t>
            </a:r>
          </a:p>
          <a:p>
            <a:pPr>
              <a:spcBef>
                <a:spcPts val="200"/>
              </a:spcBef>
              <a:defRPr sz="1000" b="1">
                <a:solidFill>
                  <a:srgbClr val="18181B"/>
                </a:solidFill>
                <a:latin typeface="Arial"/>
              </a:defRPr>
            </a:pPr>
            <a:r>
              <a:t>Current: 45% Complete  |  Target: W19</a:t>
            </a:r>
          </a:p>
          <a:p>
            <a:pPr>
              <a:spcBef>
                <a:spcPts val="400"/>
              </a:spcBef>
              <a:defRPr sz="950">
                <a:solidFill>
                  <a:srgbClr val="374151"/>
                </a:solidFill>
                <a:latin typeface="Arial"/>
              </a:defRPr>
            </a:pPr>
            <a:r>
              <a:t>• Finalizing B.Tech comprehensive project report and operational manual.</a:t>
            </a:r>
            <a:br/>
            <a:r>
              <a:t>• Documenting security audit verification and clinical safety deny-list rules.</a:t>
            </a:r>
            <a:br/>
            <a:r>
              <a:t>• Submitting research paper: 'Decentralized Ambient Healthcare Companion via On-Device LLMs and Physical Privacy Gating'.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CC0000"/>
          </a:solidFill>
          <a:ln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6400800"/>
            <a:ext cx="54864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CareWatcher, Dept of AI and 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0" y="6382512"/>
            <a:ext cx="73152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Arial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its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228600"/>
            <a:ext cx="1463040" cy="83097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20040"/>
            <a:ext cx="932688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CC0000"/>
                </a:solidFill>
                <a:latin typeface="Arial"/>
              </a:defRPr>
            </a:pPr>
            <a:r>
              <a:t>20-WEEK MAJOR PROJECT DEVELOPMENT ROADMAP</a:t>
            </a:r>
          </a:p>
          <a:p>
            <a:pPr>
              <a:defRPr sz="2600" b="1">
                <a:solidFill>
                  <a:srgbClr val="18181B"/>
                </a:solidFill>
                <a:latin typeface="Arial"/>
              </a:defRPr>
            </a:pPr>
            <a:r>
              <a:t>Updated Project Timelines &amp; Gantt Schedule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15568"/>
            <a:ext cx="10728655" cy="18288"/>
          </a:xfrm>
          <a:prstGeom prst="rect">
            <a:avLst/>
          </a:prstGeom>
          <a:solidFill>
            <a:srgbClr val="E6E6E6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325880"/>
          <a:ext cx="10728655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2011680"/>
                <a:gridCol w="3962095"/>
                <a:gridCol w="1828800"/>
              </a:tblGrid>
              <a:tr h="5181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Project Phase &amp; Activity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Timeline (Weeks)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Key Milestones &amp; Deliverables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8181B"/>
                          </a:solidFill>
                          <a:latin typeface="Arial"/>
                        </a:defRPr>
                      </a:pPr>
                      <a:r>
                        <a:t>Phase 1: Survey &amp; Formal Specification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Weeks 1 – 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Literature survey, SPEC.md, interfaces definition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6A34A"/>
                          </a:solidFill>
                          <a:latin typeface="Arial"/>
                        </a:defRPr>
                      </a:pPr>
                      <a:r>
                        <a:t>COMPLETED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8181B"/>
                          </a:solidFill>
                          <a:latin typeface="Arial"/>
                        </a:defRPr>
                      </a:pPr>
                      <a:r>
                        <a:t>Phase 2: Privacy Shutter &amp; Sensor Drivers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Weeks 4 – 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Privacy shutter gate, mic driver, ESP32 firmware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6A34A"/>
                          </a:solidFill>
                          <a:latin typeface="Arial"/>
                        </a:defRPr>
                      </a:pPr>
                      <a:r>
                        <a:t>COMPLETED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8181B"/>
                          </a:solidFill>
                          <a:latin typeface="Arial"/>
                        </a:defRPr>
                      </a:pPr>
                      <a:r>
                        <a:t>Phase 3: STT &amp; LLM Conversation Agent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Weeks 7 – 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Faster-Whisper integration, Mistral schema parsing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6A34A"/>
                          </a:solidFill>
                          <a:latin typeface="Arial"/>
                        </a:defRPr>
                      </a:pPr>
                      <a:r>
                        <a:t>COMPLETED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8181B"/>
                          </a:solidFill>
                          <a:latin typeface="Arial"/>
                        </a:defRPr>
                      </a:pPr>
                      <a:r>
                        <a:t>Phase 4: Trend Engine, Proposer &amp; Verifier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Weeks 10 – 12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Rolling drift Z-scores, SafetyVerifier, SHA-256 audit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6A34A"/>
                          </a:solidFill>
                          <a:latin typeface="Arial"/>
                        </a:defRPr>
                      </a:pPr>
                      <a:r>
                        <a:t>COMPLETED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8181B"/>
                          </a:solidFill>
                          <a:latin typeface="Arial"/>
                        </a:defRPr>
                      </a:pPr>
                      <a:r>
                        <a:t>Phase 5: Local Dashboard &amp; Integration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Weeks 13 – 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Web UI, HTTP API server, 82 unit tests [REVIEW 1]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6A34A"/>
                          </a:solidFill>
                          <a:latin typeface="Arial"/>
                        </a:defRPr>
                      </a:pPr>
                      <a:r>
                        <a:t>COMPLETED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8181B"/>
                          </a:solidFill>
                          <a:latin typeface="Arial"/>
                        </a:defRPr>
                      </a:pPr>
                      <a:r>
                        <a:t>Phase 6: 3D Packaging &amp; Enclosure Fabrication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Weeks 15 – 16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CAD housing design, 3D printing, physical slider switch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2563EB"/>
                          </a:solidFill>
                          <a:latin typeface="Arial"/>
                        </a:defRPr>
                      </a:pPr>
                      <a:r>
                        <a:t>IN PROGRESS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8181B"/>
                          </a:solidFill>
                          <a:latin typeface="Arial"/>
                        </a:defRPr>
                      </a:pPr>
                      <a:r>
                        <a:t>Phase 7: Residential Pilot &amp; Edge Optimization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Weeks 17 – 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7-day elderly trial, INT4 acceleration [REVIEW 2]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D97706"/>
                          </a:solidFill>
                          <a:latin typeface="Arial"/>
                        </a:defRPr>
                      </a:pPr>
                      <a:r>
                        <a:t>PENDING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8181B"/>
                          </a:solidFill>
                          <a:latin typeface="Arial"/>
                        </a:defRPr>
                      </a:pPr>
                      <a:r>
                        <a:t>Phase 8: Final Thesis &amp; Defense Demonstration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Weeks 19 – 20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Comprehensive report, conference paper, final viva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D97706"/>
                          </a:solidFill>
                          <a:latin typeface="Arial"/>
                        </a:defRPr>
                      </a:pPr>
                      <a:r>
                        <a:t>PENDING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CC0000"/>
          </a:solidFill>
          <a:ln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54864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CareWatcher, Dept of AI and 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382512"/>
            <a:ext cx="73152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Arial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its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228600"/>
            <a:ext cx="1463040" cy="83097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20040"/>
            <a:ext cx="932688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CC0000"/>
                </a:solidFill>
                <a:latin typeface="Arial"/>
              </a:defRPr>
            </a:pPr>
            <a:r>
              <a:t>ACADEMIC LITERATURE, BIOMEDICAL STANDARDS &amp; CORE FRAMEWORKS</a:t>
            </a:r>
          </a:p>
          <a:p>
            <a:pPr>
              <a:defRPr sz="2600" b="1">
                <a:solidFill>
                  <a:srgbClr val="18181B"/>
                </a:solidFill>
                <a:latin typeface="Arial"/>
              </a:defRPr>
            </a:pPr>
            <a:r>
              <a:t>References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15568"/>
            <a:ext cx="10728655" cy="18288"/>
          </a:xfrm>
          <a:prstGeom prst="rect">
            <a:avLst/>
          </a:prstGeom>
          <a:solidFill>
            <a:srgbClr val="E6E6E6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52120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850">
                <a:solidFill>
                  <a:srgbClr val="374151"/>
                </a:solidFill>
                <a:latin typeface="Arial"/>
              </a:defRPr>
            </a:pPr>
            <a:r>
              <a:t>[1] A. Radford, J. W. Kim, T. Xu, G. Brockman, C. McLeavey, and I. Sutskever, 'Robust Speech Recognition via Large-Scale Weak Supervision,' OpenAI Technical Report, 2022.</a:t>
            </a:r>
          </a:p>
          <a:p>
            <a:pPr>
              <a:spcBef>
                <a:spcPts val="800"/>
              </a:spcBef>
              <a:defRPr sz="850">
                <a:solidFill>
                  <a:srgbClr val="374151"/>
                </a:solidFill>
                <a:latin typeface="Arial"/>
              </a:defRPr>
            </a:pPr>
            <a:r>
              <a:t>[2] H. Touvron, L. Martin, K. Stone, P. Albert, et al., 'LLaMA: Open and Efficient Foundation Language Models,' arXiv:2302.13971, 2023.</a:t>
            </a:r>
          </a:p>
          <a:p>
            <a:pPr>
              <a:spcBef>
                <a:spcPts val="800"/>
              </a:spcBef>
              <a:defRPr sz="850">
                <a:solidFill>
                  <a:srgbClr val="374151"/>
                </a:solidFill>
                <a:latin typeface="Arial"/>
              </a:defRPr>
            </a:pPr>
            <a:r>
              <a:t>[3] P. Rashidi and A. Mihailidis, 'A Survey on Ambient-Assisted Living Tools for Older Adults,' IEEE Transactions on Biomedical Engineering, vol. 60, no. 3, pp. 679-688, 2013.</a:t>
            </a:r>
          </a:p>
          <a:p>
            <a:pPr>
              <a:spcBef>
                <a:spcPts val="800"/>
              </a:spcBef>
              <a:defRPr sz="850">
                <a:solidFill>
                  <a:srgbClr val="374151"/>
                </a:solidFill>
                <a:latin typeface="Arial"/>
              </a:defRPr>
            </a:pPr>
            <a:r>
              <a:t>[4] T. Tamura, Y. Maeda, M. Sekine, and M. Yoshida, 'Wearable Photoplethysmographic Sensors—Past and Present,' Electronics, vol. 3, no. 2, pp. 282-302, 2014.</a:t>
            </a:r>
          </a:p>
          <a:p>
            <a:pPr>
              <a:spcBef>
                <a:spcPts val="800"/>
              </a:spcBef>
              <a:defRPr sz="850">
                <a:solidFill>
                  <a:srgbClr val="374151"/>
                </a:solidFill>
                <a:latin typeface="Arial"/>
              </a:defRPr>
            </a:pPr>
            <a:r>
              <a:t>[5] S. Gerke, T. Minssen, and G. Cohen, 'Ethical and Legal Challenges of Artificial Intelligence-Driven Healthcare,' Artificial Intelligence in Healthcare, pp. 295-336, Academic Press, 2020.</a:t>
            </a:r>
          </a:p>
          <a:p>
            <a:pPr>
              <a:spcBef>
                <a:spcPts val="800"/>
              </a:spcBef>
              <a:defRPr sz="850">
                <a:solidFill>
                  <a:srgbClr val="374151"/>
                </a:solidFill>
                <a:latin typeface="Arial"/>
              </a:defRPr>
            </a:pPr>
            <a:r>
              <a:t>[6] S. Haber and W. S. Stornetta, 'How to Time-Stamp a Digital Document,' Journal of Cryptology, vol. 3, no. 2, pp. 99-111, 1991.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48095" y="1325880"/>
            <a:ext cx="52120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30975" y="146304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850">
                <a:solidFill>
                  <a:srgbClr val="374151"/>
                </a:solidFill>
                <a:latin typeface="Arial"/>
              </a:defRPr>
            </a:pPr>
            <a:r>
              <a:t>[7] C. Dwork and A. Roth, 'The Algorithmic Foundations of Differential Privacy,' Foundations and Trends in Theoretical Computer Science, vol. 9, no. 3-4, pp. 211-407, 2014.</a:t>
            </a:r>
          </a:p>
          <a:p>
            <a:pPr>
              <a:spcBef>
                <a:spcPts val="800"/>
              </a:spcBef>
              <a:defRPr sz="850">
                <a:solidFill>
                  <a:srgbClr val="374151"/>
                </a:solidFill>
                <a:latin typeface="Arial"/>
              </a:defRPr>
            </a:pPr>
            <a:r>
              <a:t>[8] World Health Organization, 'Regulatory Considerations on Artificial Intelligence for Health,' WHO Health Guidance Document, Geneva, 2023.</a:t>
            </a:r>
          </a:p>
          <a:p>
            <a:pPr>
              <a:spcBef>
                <a:spcPts val="800"/>
              </a:spcBef>
              <a:defRPr sz="850">
                <a:solidFill>
                  <a:srgbClr val="374151"/>
                </a:solidFill>
                <a:latin typeface="Arial"/>
              </a:defRPr>
            </a:pPr>
            <a:r>
              <a:t>[9] ISO/IEEE 11073-10408:2020, 'Health Informatics—Personal Health Device Communication—Device Specialization: Thermometer,' IEEE Standards Association, 2020.</a:t>
            </a:r>
          </a:p>
          <a:p>
            <a:pPr>
              <a:spcBef>
                <a:spcPts val="800"/>
              </a:spcBef>
              <a:defRPr sz="850">
                <a:solidFill>
                  <a:srgbClr val="374151"/>
                </a:solidFill>
                <a:latin typeface="Arial"/>
              </a:defRPr>
            </a:pPr>
            <a:r>
              <a:t>[10] ISO/IEEE 11073-10404:2020, 'Health Informatics—Personal Health Device Communication—Device Specialization: Pulse Oximeter,' IEEE Standards Association, 2020.</a:t>
            </a:r>
          </a:p>
          <a:p>
            <a:pPr>
              <a:spcBef>
                <a:spcPts val="800"/>
              </a:spcBef>
              <a:defRPr sz="850">
                <a:solidFill>
                  <a:srgbClr val="374151"/>
                </a:solidFill>
                <a:latin typeface="Arial"/>
              </a:defRPr>
            </a:pPr>
            <a:r>
              <a:t>[11] A. Q. Jiang, A. Sablayrolles, A. Mensch, C. Bamford, et al., 'Mistral 7B,' arXiv:2310.06825, 2023.</a:t>
            </a:r>
          </a:p>
          <a:p>
            <a:pPr>
              <a:spcBef>
                <a:spcPts val="800"/>
              </a:spcBef>
              <a:defRPr sz="850">
                <a:solidFill>
                  <a:srgbClr val="374151"/>
                </a:solidFill>
                <a:latin typeface="Arial"/>
              </a:defRPr>
            </a:pPr>
            <a:r>
              <a:t>[12] J. Varghese, D. A. Joseph, and R. Paul, 'Edge Computing in Ambient Assisted Living: Architectures, Challenges, and Privacy Guarantees,' IEEE Access, vol. 9, pp. 78622-78652, 2021.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CC0000"/>
          </a:solidFill>
          <a:ln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6400800"/>
            <a:ext cx="54864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CareWatcher, Dept of AI and 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0" y="6382512"/>
            <a:ext cx="73152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Arial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